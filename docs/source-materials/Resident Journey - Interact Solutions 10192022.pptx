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1974" r:id="rId3"/>
    <p:sldId id="1987" r:id="rId4"/>
    <p:sldId id="1991" r:id="rId5"/>
    <p:sldId id="1993" r:id="rId6"/>
    <p:sldId id="1994" r:id="rId7"/>
    <p:sldId id="1995" r:id="rId8"/>
    <p:sldId id="1996" r:id="rId9"/>
    <p:sldId id="268" r:id="rId10"/>
    <p:sldId id="1998" r:id="rId11"/>
    <p:sldId id="1999" r:id="rId12"/>
    <p:sldId id="1997" r:id="rId13"/>
    <p:sldId id="200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265394-D4D4-4F40-8AA3-3A10A0CF6C64}" v="3" dt="2022-10-19T20:57:00.1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153"/>
  </p:normalViewPr>
  <p:slideViewPr>
    <p:cSldViewPr snapToGrid="0">
      <p:cViewPr varScale="1">
        <p:scale>
          <a:sx n="148" d="100"/>
          <a:sy n="14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77B31-0D55-FF40-9576-101C79FFBE44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3E3F77-5605-3D42-A657-1315E3D6F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21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29AE38-48F7-BA4B-A389-2341879A36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623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96893-832B-57E0-4E02-0E65069B6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0DEDD1-CB97-BAB9-71B8-6CC2C33E2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CE99F-879F-FE10-0E4B-AE429B5D6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4744-174E-E945-B8AA-0DAA7E61FF9E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2EFEB-1F21-523D-13A9-A3AC3D961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B3818-C0DF-425D-3C53-E012A54DE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079D-8418-6347-89F2-888C417C2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63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A579A-FD96-5D41-391E-2DC7F545B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39780-87B6-E3C2-661F-39C96A586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E7644-52AA-0EDC-8A5B-B9516FECC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4744-174E-E945-B8AA-0DAA7E61FF9E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62391-EC19-9BFD-EEF9-6C2AE9379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880CC-68B2-3704-AB94-F0B71C65B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079D-8418-6347-89F2-888C417C2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90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F808-A9D0-38F0-0741-6EF942C57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2629A-B76B-CE5D-5624-F771BF901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BE3C6-6EBE-98B3-5709-75D36D88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4744-174E-E945-B8AA-0DAA7E61FF9E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497CB-DCBA-4CF6-F3E6-07791191E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FFC34-82A0-DC7B-1EC5-0CDD9E2E2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079D-8418-6347-89F2-888C417C2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69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F3615-0EAE-3E9B-6DC6-AFAF590F7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93791-8A43-D5F3-D8C5-41BB1F72C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80442-C353-D7D0-1A35-663C500B9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E5613-2038-514B-9617-21B869EFB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4744-174E-E945-B8AA-0DAA7E61FF9E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2F3577-97E4-799B-8331-39C7F6658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9EA41-A266-8E12-57BD-B6CAE9EDD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079D-8418-6347-89F2-888C417C2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34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47756-D5BC-9287-6C3D-42CDBF269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76D10F-B727-C674-DDD7-AF7A2167E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7063CA-261F-F5BE-E658-215C7B9D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00793-17EB-1D33-EED7-CAB600B2C3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461B83-24C4-0801-CFA8-C80A0D1B14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28A74F-9810-A657-95B3-3B8886689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4744-174E-E945-B8AA-0DAA7E61FF9E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4CFB85-E0E5-1118-E9BB-83C950BFB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CA362E-9AB0-4CE3-2A6A-7C89BD692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079D-8418-6347-89F2-888C417C2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9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DEFDA-5671-526A-265D-C8E1AA2D9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F99DDB-BD08-8E4B-94D1-E7326E5DF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4744-174E-E945-B8AA-0DAA7E61FF9E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8142CD-45B7-FC8B-F5BF-26332226A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9872E3-09B4-A813-EF1D-4FC51AB63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079D-8418-6347-89F2-888C417C2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47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136907-2EA9-FADB-D6C0-D6653CD68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4744-174E-E945-B8AA-0DAA7E61FF9E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0158A8-A0A8-4FCF-DE34-E4E1FF292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A2FF9-EFB1-CD83-99B2-8DF9C9AB6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079D-8418-6347-89F2-888C417C2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546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4A175-2C37-C270-35C6-D1D530BD8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FE8A5-3AF2-9A36-1B10-F3744E952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24BE7D-A458-6DC4-E461-2B7207023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D8B06-B4EA-2E10-3D6C-2C5E1E8BB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4744-174E-E945-B8AA-0DAA7E61FF9E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5F6C8-0976-42FB-ECCB-B715EDE41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7D28C-77B2-4F5A-E69B-ACF157EB5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079D-8418-6347-89F2-888C417C2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086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60C30-4988-A21C-CD11-C56F3E8F5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306C25-2982-8002-AD82-7AD2B32BAF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C789A-08FB-A729-72CC-2BC5129BE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62CDDC-D4D9-451B-8B7A-A7A0D728D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4744-174E-E945-B8AA-0DAA7E61FF9E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F27FA-361B-7EA0-E04A-AB0890AA2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42F2C-70C6-E769-A49C-5B3315278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079D-8418-6347-89F2-888C417C2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218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67870-E3B5-106A-EF65-4A1ECCACB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268439-E879-D1E4-AE00-461B3E9446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1151A-7A15-6C29-696E-B7CBB7DA8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4744-174E-E945-B8AA-0DAA7E61FF9E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C7616-70DB-BE23-2026-02F0A9C9B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2C43F-AD29-570B-DF04-CCA6CD620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079D-8418-6347-89F2-888C417C2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1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5CD46D-2DBB-4687-BA5A-C20A34F388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F1DA2-7254-6722-04FC-0FEF8EA0D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09A68-1191-0FA6-950F-E5CD15F3B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4744-174E-E945-B8AA-0DAA7E61FF9E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C1D95-1DC7-178D-7841-4F8C3FE6E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4ED1B-E7A2-7590-DD46-EC632E83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079D-8418-6347-89F2-888C417C2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276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E43E6F-2449-A056-BB8C-C094B438A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E35B0-6F74-8B82-D60B-44F3BF141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E8B75-4871-4C8E-0160-33ACDC895F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D4744-174E-E945-B8AA-0DAA7E61FF9E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2E3DD-E8A2-0605-2AB2-992D5AF540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8A5D5-DBD6-E1E3-E33F-F5329B59B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4079D-8418-6347-89F2-888C417C2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632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3.png"/><Relationship Id="rId3" Type="http://schemas.openxmlformats.org/officeDocument/2006/relationships/image" Target="../media/image11.jpe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3.jpeg"/><Relationship Id="rId5" Type="http://schemas.openxmlformats.org/officeDocument/2006/relationships/image" Target="../media/image5.jpe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building, outdoor, apartment building, city&#10;&#10;Description automatically generated">
            <a:extLst>
              <a:ext uri="{FF2B5EF4-FFF2-40B4-BE49-F238E27FC236}">
                <a16:creationId xmlns:a16="http://schemas.microsoft.com/office/drawing/2014/main" id="{BE1F8764-8CA7-5791-8EB8-0A8EE8300B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62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FF782B-E498-DD8E-BBF6-C0D3BFDACA79}"/>
              </a:ext>
            </a:extLst>
          </p:cNvPr>
          <p:cNvSpPr txBox="1"/>
          <p:nvPr/>
        </p:nvSpPr>
        <p:spPr>
          <a:xfrm>
            <a:off x="1005558" y="3522200"/>
            <a:ext cx="5761514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RESIDENT JOURNEY</a:t>
            </a:r>
          </a:p>
          <a:p>
            <a:r>
              <a:rPr lang="en-US" sz="3600" b="1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AT CORAL GABLES</a:t>
            </a:r>
          </a:p>
          <a:p>
            <a:r>
              <a:rPr lang="en-US" sz="3600" b="1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With Connected Room Solutions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B5AA24-42D4-D647-72E2-87BBCDF9A52D}"/>
              </a:ext>
            </a:extLst>
          </p:cNvPr>
          <p:cNvSpPr txBox="1"/>
          <p:nvPr/>
        </p:nvSpPr>
        <p:spPr>
          <a:xfrm>
            <a:off x="6666964" y="6417733"/>
            <a:ext cx="542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Interact Technologies - Confidential &amp; Proprietary - 2022</a:t>
            </a: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EA713362-4173-B53F-56F6-302DD3826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3093" y="70935"/>
            <a:ext cx="2640655" cy="234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232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560">
        <p14:prism/>
      </p:transition>
    </mc:Choice>
    <mc:Fallback xmlns="">
      <p:transition spd="slow" advTm="356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C94AA7-95A2-EB59-1CE6-3538AE54E6E1}"/>
              </a:ext>
            </a:extLst>
          </p:cNvPr>
          <p:cNvSpPr txBox="1"/>
          <p:nvPr/>
        </p:nvSpPr>
        <p:spPr>
          <a:xfrm>
            <a:off x="3048000" y="2461881"/>
            <a:ext cx="60960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/>
              <a:t>RESIDENT JOURNEY</a:t>
            </a:r>
          </a:p>
          <a:p>
            <a:pPr algn="ctr"/>
            <a:r>
              <a:rPr lang="en-US" sz="2400" dirty="0"/>
              <a:t>Phase 1</a:t>
            </a:r>
          </a:p>
          <a:p>
            <a:pPr algn="ctr"/>
            <a:r>
              <a:rPr lang="en-US" sz="2400" dirty="0"/>
              <a:t>Managed Wi-Fi and Video</a:t>
            </a:r>
          </a:p>
        </p:txBody>
      </p:sp>
      <p:pic>
        <p:nvPicPr>
          <p:cNvPr id="2" name="Picture 10" descr="Image preview">
            <a:extLst>
              <a:ext uri="{FF2B5EF4-FFF2-40B4-BE49-F238E27FC236}">
                <a16:creationId xmlns:a16="http://schemas.microsoft.com/office/drawing/2014/main" id="{A7677449-E5D3-87D1-1924-880D4A383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7" y="5945746"/>
            <a:ext cx="2764728" cy="79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D59542-66CC-4A36-BC35-C3B0A44A3DD4}"/>
              </a:ext>
            </a:extLst>
          </p:cNvPr>
          <p:cNvSpPr txBox="1"/>
          <p:nvPr/>
        </p:nvSpPr>
        <p:spPr>
          <a:xfrm>
            <a:off x="6666964" y="6417733"/>
            <a:ext cx="542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Interact Technologies - Confidential &amp; Proprietary - 2022</a:t>
            </a:r>
          </a:p>
        </p:txBody>
      </p:sp>
    </p:spTree>
    <p:extLst>
      <p:ext uri="{BB962C8B-B14F-4D97-AF65-F5344CB8AC3E}">
        <p14:creationId xmlns:p14="http://schemas.microsoft.com/office/powerpoint/2010/main" val="3921184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7026">
        <p14:prism dir="u"/>
      </p:transition>
    </mc:Choice>
    <mc:Fallback xmlns="">
      <p:transition spd="slow" advTm="702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1F28AB-5715-4C22-88B7-6B6B17803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131" y="1123682"/>
            <a:ext cx="4514850" cy="3671488"/>
          </a:xfrm>
          <a:prstGeom prst="rect">
            <a:avLst/>
          </a:prstGeom>
          <a:noFill/>
        </p:spPr>
      </p:pic>
      <p:sp>
        <p:nvSpPr>
          <p:cNvPr id="9" name="Google Shape;404;p76">
            <a:extLst>
              <a:ext uri="{FF2B5EF4-FFF2-40B4-BE49-F238E27FC236}">
                <a16:creationId xmlns:a16="http://schemas.microsoft.com/office/drawing/2014/main" id="{E067F018-61B4-4BE5-8CD5-59DA74D6F923}"/>
              </a:ext>
            </a:extLst>
          </p:cNvPr>
          <p:cNvSpPr txBox="1"/>
          <p:nvPr/>
        </p:nvSpPr>
        <p:spPr>
          <a:xfrm>
            <a:off x="107849" y="229736"/>
            <a:ext cx="7288374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Myriad Pro" panose="020B0503030403020204"/>
                <a:ea typeface="Google Sans"/>
                <a:cs typeface="Google Sans"/>
                <a:sym typeface="Google Sans"/>
              </a:rPr>
              <a:t>RESIDENT FACING SOLUTION:</a:t>
            </a:r>
            <a:endParaRPr sz="2800" dirty="0">
              <a:solidFill>
                <a:srgbClr val="222222"/>
              </a:solidFill>
              <a:latin typeface="Myriad Pro" panose="020B0503030403020204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595959"/>
              </a:solidFill>
              <a:latin typeface="Myriad Pro" panose="020B0503030403020204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4EFD4E-EF5E-6713-67EE-939DF209B45D}"/>
              </a:ext>
            </a:extLst>
          </p:cNvPr>
          <p:cNvGrpSpPr/>
          <p:nvPr/>
        </p:nvGrpSpPr>
        <p:grpSpPr>
          <a:xfrm>
            <a:off x="7301299" y="1996772"/>
            <a:ext cx="2145652" cy="1250382"/>
            <a:chOff x="7183816" y="2201329"/>
            <a:chExt cx="2145652" cy="1250382"/>
          </a:xfrm>
        </p:grpSpPr>
        <p:cxnSp>
          <p:nvCxnSpPr>
            <p:cNvPr id="3" name="Connector: Curved 5">
              <a:extLst>
                <a:ext uri="{FF2B5EF4-FFF2-40B4-BE49-F238E27FC236}">
                  <a16:creationId xmlns:a16="http://schemas.microsoft.com/office/drawing/2014/main" id="{57CFBCBB-BC7B-C66C-D5FF-EC8A6BFC2DB7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7183816" y="2754138"/>
              <a:ext cx="1905651" cy="697573"/>
            </a:xfrm>
            <a:prstGeom prst="curvedConnector3">
              <a:avLst>
                <a:gd name="adj1" fmla="val 56586"/>
              </a:avLst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4CE4BDF-D427-9055-81B6-E39FC427C906}"/>
                </a:ext>
              </a:extLst>
            </p:cNvPr>
            <p:cNvGrpSpPr/>
            <p:nvPr/>
          </p:nvGrpSpPr>
          <p:grpSpPr>
            <a:xfrm>
              <a:off x="8849466" y="2201329"/>
              <a:ext cx="480002" cy="1169512"/>
              <a:chOff x="8849466" y="2201329"/>
              <a:chExt cx="480002" cy="1169512"/>
            </a:xfrm>
          </p:grpSpPr>
          <p:pic>
            <p:nvPicPr>
              <p:cNvPr id="6" name="Picture 10" descr="Ruckus H320 - wireless access point - Wi-Fi 5">
                <a:extLst>
                  <a:ext uri="{FF2B5EF4-FFF2-40B4-BE49-F238E27FC236}">
                    <a16:creationId xmlns:a16="http://schemas.microsoft.com/office/drawing/2014/main" id="{07967C3B-3478-5D9F-0FA0-5B03698F947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770" r="33736" b="4825"/>
              <a:stretch/>
            </p:blipFill>
            <p:spPr bwMode="auto">
              <a:xfrm rot="191876">
                <a:off x="8849466" y="2547881"/>
                <a:ext cx="480002" cy="82296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Picture 9" descr="Icon&#10;&#10;Description automatically generated">
                <a:extLst>
                  <a:ext uri="{FF2B5EF4-FFF2-40B4-BE49-F238E27FC236}">
                    <a16:creationId xmlns:a16="http://schemas.microsoft.com/office/drawing/2014/main" id="{259939CA-C0D4-13FE-08B3-A5127A13E2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08729" y="2201329"/>
                <a:ext cx="397334" cy="346552"/>
              </a:xfrm>
              <a:prstGeom prst="rect">
                <a:avLst/>
              </a:prstGeom>
            </p:spPr>
          </p:pic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FD56D0C-5157-55EF-5EB0-DEFC18E0187D}"/>
              </a:ext>
            </a:extLst>
          </p:cNvPr>
          <p:cNvSpPr txBox="1"/>
          <p:nvPr/>
        </p:nvSpPr>
        <p:spPr>
          <a:xfrm>
            <a:off x="9469532" y="2371118"/>
            <a:ext cx="2130797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Community Wi-Fi</a:t>
            </a:r>
          </a:p>
          <a:p>
            <a:endParaRPr lang="en-US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Generates revenue with positive ROI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Reduces onboarding process for Smart Building and IoT technology onboarding.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Door Locks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Smart Thermostats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Voice Controls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Leak Detection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Smart Switches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Resident &amp; Employee Safety Devices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pic>
        <p:nvPicPr>
          <p:cNvPr id="12" name="Picture 10" descr="Image preview">
            <a:extLst>
              <a:ext uri="{FF2B5EF4-FFF2-40B4-BE49-F238E27FC236}">
                <a16:creationId xmlns:a16="http://schemas.microsoft.com/office/drawing/2014/main" id="{867E1E9A-BEAA-E7C1-9A4B-4F1779D24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7" y="5945746"/>
            <a:ext cx="2764728" cy="79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9DA863-C125-4840-CC0E-A0657408A152}"/>
              </a:ext>
            </a:extLst>
          </p:cNvPr>
          <p:cNvSpPr txBox="1"/>
          <p:nvPr/>
        </p:nvSpPr>
        <p:spPr>
          <a:xfrm>
            <a:off x="6666964" y="6417733"/>
            <a:ext cx="542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Interact Technologies - Confidential &amp; Proprietary - 2022</a:t>
            </a:r>
          </a:p>
        </p:txBody>
      </p:sp>
    </p:spTree>
    <p:extLst>
      <p:ext uri="{BB962C8B-B14F-4D97-AF65-F5344CB8AC3E}">
        <p14:creationId xmlns:p14="http://schemas.microsoft.com/office/powerpoint/2010/main" val="3981223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420">
        <p159:morph option="byChar"/>
      </p:transition>
    </mc:Choice>
    <mc:Fallback xmlns="">
      <p:transition spd="slow" advTm="342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1F28AB-5715-4C22-88B7-6B6B17803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131" y="1123682"/>
            <a:ext cx="4514850" cy="3671488"/>
          </a:xfrm>
          <a:prstGeom prst="rect">
            <a:avLst/>
          </a:prstGeom>
          <a:noFill/>
        </p:spPr>
      </p:pic>
      <p:sp>
        <p:nvSpPr>
          <p:cNvPr id="9" name="Google Shape;404;p76">
            <a:extLst>
              <a:ext uri="{FF2B5EF4-FFF2-40B4-BE49-F238E27FC236}">
                <a16:creationId xmlns:a16="http://schemas.microsoft.com/office/drawing/2014/main" id="{E067F018-61B4-4BE5-8CD5-59DA74D6F923}"/>
              </a:ext>
            </a:extLst>
          </p:cNvPr>
          <p:cNvSpPr txBox="1"/>
          <p:nvPr/>
        </p:nvSpPr>
        <p:spPr>
          <a:xfrm>
            <a:off x="107849" y="229736"/>
            <a:ext cx="7288374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Myriad Pro" panose="020B0503030403020204"/>
                <a:ea typeface="Google Sans"/>
                <a:cs typeface="Google Sans"/>
                <a:sym typeface="Google Sans"/>
              </a:rPr>
              <a:t>RESIDENT FACING SOLUTION:</a:t>
            </a:r>
            <a:endParaRPr sz="2800" dirty="0">
              <a:solidFill>
                <a:srgbClr val="222222"/>
              </a:solidFill>
              <a:latin typeface="Myriad Pro" panose="020B0503030403020204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595959"/>
              </a:solidFill>
              <a:latin typeface="Myriad Pro" panose="020B0503030403020204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78FFEDD-8F6D-6903-CE0E-16E2ED691B7C}"/>
              </a:ext>
            </a:extLst>
          </p:cNvPr>
          <p:cNvGrpSpPr/>
          <p:nvPr/>
        </p:nvGrpSpPr>
        <p:grpSpPr>
          <a:xfrm>
            <a:off x="6412376" y="3984884"/>
            <a:ext cx="1998764" cy="1298415"/>
            <a:chOff x="6412376" y="3984884"/>
            <a:chExt cx="1998764" cy="1298415"/>
          </a:xfrm>
        </p:grpSpPr>
        <p:cxnSp>
          <p:nvCxnSpPr>
            <p:cNvPr id="8" name="Curved Connector 7">
              <a:extLst>
                <a:ext uri="{FF2B5EF4-FFF2-40B4-BE49-F238E27FC236}">
                  <a16:creationId xmlns:a16="http://schemas.microsoft.com/office/drawing/2014/main" id="{83BB562C-EEC0-09E5-79F5-D3D2B3FBD7B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412376" y="3984884"/>
              <a:ext cx="1005647" cy="810286"/>
            </a:xfrm>
            <a:prstGeom prst="curvedConnector3">
              <a:avLst/>
            </a:prstGeom>
            <a:ln w="31750" cmpd="sng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Picture 2" descr="Device Setup">
              <a:extLst>
                <a:ext uri="{FF2B5EF4-FFF2-40B4-BE49-F238E27FC236}">
                  <a16:creationId xmlns:a16="http://schemas.microsoft.com/office/drawing/2014/main" id="{90F4E59D-7FE9-2CBD-DD65-85A502D20A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52212" y="4044163"/>
              <a:ext cx="1258928" cy="12391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D811B95-08B3-E604-524A-55E22FE2A265}"/>
              </a:ext>
            </a:extLst>
          </p:cNvPr>
          <p:cNvSpPr txBox="1"/>
          <p:nvPr/>
        </p:nvSpPr>
        <p:spPr>
          <a:xfrm>
            <a:off x="8411140" y="4795170"/>
            <a:ext cx="156165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TV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140 FTG Channels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IPG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Remote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Cloud DVR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Casting</a:t>
            </a:r>
            <a:endParaRPr lang="en-US" sz="1100" b="1" dirty="0"/>
          </a:p>
        </p:txBody>
      </p:sp>
      <p:pic>
        <p:nvPicPr>
          <p:cNvPr id="5" name="Picture 10" descr="Image preview">
            <a:extLst>
              <a:ext uri="{FF2B5EF4-FFF2-40B4-BE49-F238E27FC236}">
                <a16:creationId xmlns:a16="http://schemas.microsoft.com/office/drawing/2014/main" id="{D6335D7C-3C12-C2B0-E269-5EC47FA00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7" y="5945746"/>
            <a:ext cx="2764728" cy="79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BCC1EF-9EBF-3E2B-5A4D-0937174DAF0F}"/>
              </a:ext>
            </a:extLst>
          </p:cNvPr>
          <p:cNvSpPr txBox="1"/>
          <p:nvPr/>
        </p:nvSpPr>
        <p:spPr>
          <a:xfrm>
            <a:off x="6666964" y="6417733"/>
            <a:ext cx="542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Interact Technologies - Confidential &amp; Proprietary - 2022</a:t>
            </a:r>
          </a:p>
        </p:txBody>
      </p:sp>
    </p:spTree>
    <p:extLst>
      <p:ext uri="{BB962C8B-B14F-4D97-AF65-F5344CB8AC3E}">
        <p14:creationId xmlns:p14="http://schemas.microsoft.com/office/powerpoint/2010/main" val="5567690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329">
        <p159:morph option="byChar"/>
      </p:transition>
    </mc:Choice>
    <mc:Fallback xmlns="">
      <p:transition spd="slow" advTm="232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1F28AB-5715-4C22-88B7-6B6B17803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131" y="1123682"/>
            <a:ext cx="4514850" cy="3671488"/>
          </a:xfrm>
          <a:prstGeom prst="rect">
            <a:avLst/>
          </a:prstGeom>
          <a:noFill/>
        </p:spPr>
      </p:pic>
      <p:sp>
        <p:nvSpPr>
          <p:cNvPr id="9" name="Google Shape;404;p76">
            <a:extLst>
              <a:ext uri="{FF2B5EF4-FFF2-40B4-BE49-F238E27FC236}">
                <a16:creationId xmlns:a16="http://schemas.microsoft.com/office/drawing/2014/main" id="{E067F018-61B4-4BE5-8CD5-59DA74D6F923}"/>
              </a:ext>
            </a:extLst>
          </p:cNvPr>
          <p:cNvSpPr txBox="1"/>
          <p:nvPr/>
        </p:nvSpPr>
        <p:spPr>
          <a:xfrm>
            <a:off x="107849" y="229736"/>
            <a:ext cx="7288374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Myriad Pro" panose="020B0503030403020204"/>
                <a:ea typeface="Google Sans"/>
                <a:cs typeface="Google Sans"/>
                <a:sym typeface="Google Sans"/>
              </a:rPr>
              <a:t>RESIDENT FACING SOLUTION:</a:t>
            </a:r>
            <a:endParaRPr sz="2800" dirty="0">
              <a:solidFill>
                <a:srgbClr val="222222"/>
              </a:solidFill>
              <a:latin typeface="Myriad Pro" panose="020B0503030403020204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595959"/>
              </a:solidFill>
              <a:latin typeface="Myriad Pro" panose="020B0503030403020204"/>
              <a:ea typeface="Google Sans"/>
              <a:cs typeface="Google Sans"/>
              <a:sym typeface="Google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3CAC9D-E96E-CEF0-7568-12BE41903B23}"/>
              </a:ext>
            </a:extLst>
          </p:cNvPr>
          <p:cNvSpPr txBox="1"/>
          <p:nvPr/>
        </p:nvSpPr>
        <p:spPr>
          <a:xfrm>
            <a:off x="893406" y="1483069"/>
            <a:ext cx="294516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Managed Wi-Fi</a:t>
            </a:r>
          </a:p>
          <a:p>
            <a:endParaRPr lang="en-US" sz="1100" b="1" dirty="0"/>
          </a:p>
          <a:p>
            <a:r>
              <a:rPr lang="en-US" sz="1100" b="1" dirty="0"/>
              <a:t>Secondary Check In Options: Phase 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Occupancy Sensor via Thermostat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Additional Occupancy Notifications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Resident changing Temperature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Resident changing Fan Speed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Resident Turning On or Off Thermostat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Wireless Door Contact </a:t>
            </a:r>
          </a:p>
          <a:p>
            <a:endParaRPr lang="en-US" sz="1100" b="1" dirty="0"/>
          </a:p>
          <a:p>
            <a:r>
              <a:rPr lang="en-US" sz="1100" b="1" dirty="0"/>
              <a:t>Smart Service Applications: Phase </a:t>
            </a:r>
            <a:r>
              <a:rPr lang="en-US" sz="1100" b="1" dirty="0" err="1"/>
              <a:t>ll</a:t>
            </a:r>
            <a:endParaRPr lang="en-US" sz="1100" b="1" dirty="0"/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sz="1100" dirty="0"/>
              <a:t>**Resident Check In Application**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E16AF6C-48CD-DA5D-ECDE-04D69C21CD52}"/>
              </a:ext>
            </a:extLst>
          </p:cNvPr>
          <p:cNvGrpSpPr/>
          <p:nvPr/>
        </p:nvGrpSpPr>
        <p:grpSpPr>
          <a:xfrm>
            <a:off x="2842053" y="940845"/>
            <a:ext cx="3958774" cy="2684651"/>
            <a:chOff x="2842053" y="940845"/>
            <a:chExt cx="3958774" cy="2684651"/>
          </a:xfrm>
        </p:grpSpPr>
        <p:cxnSp>
          <p:nvCxnSpPr>
            <p:cNvPr id="6" name="Connector: Curved 5">
              <a:extLst>
                <a:ext uri="{FF2B5EF4-FFF2-40B4-BE49-F238E27FC236}">
                  <a16:creationId xmlns:a16="http://schemas.microsoft.com/office/drawing/2014/main" id="{818F2381-5EE4-551C-7068-4F950BDFE789}"/>
                </a:ext>
              </a:extLst>
            </p:cNvPr>
            <p:cNvCxnSpPr/>
            <p:nvPr/>
          </p:nvCxnSpPr>
          <p:spPr>
            <a:xfrm>
              <a:off x="3838575" y="1483069"/>
              <a:ext cx="2962252" cy="2142427"/>
            </a:xfrm>
            <a:prstGeom prst="curvedConnector3">
              <a:avLst>
                <a:gd name="adj1" fmla="val 46850"/>
              </a:avLst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Picture 9" descr="A picture containing diagram&#10;&#10;Description automatically generated">
              <a:extLst>
                <a:ext uri="{FF2B5EF4-FFF2-40B4-BE49-F238E27FC236}">
                  <a16:creationId xmlns:a16="http://schemas.microsoft.com/office/drawing/2014/main" id="{A9393235-28FE-065B-BB59-A8A570605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42053" y="940845"/>
              <a:ext cx="996521" cy="996521"/>
            </a:xfrm>
            <a:prstGeom prst="rect">
              <a:avLst/>
            </a:prstGeom>
          </p:spPr>
        </p:pic>
      </p:grpSp>
      <p:pic>
        <p:nvPicPr>
          <p:cNvPr id="8" name="Picture 10" descr="Image preview">
            <a:extLst>
              <a:ext uri="{FF2B5EF4-FFF2-40B4-BE49-F238E27FC236}">
                <a16:creationId xmlns:a16="http://schemas.microsoft.com/office/drawing/2014/main" id="{206E14A3-A06C-150E-9738-DDCF3E0FF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7" y="5945746"/>
            <a:ext cx="2764728" cy="79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9445BD-2F52-B5C0-66D4-01C2C008826D}"/>
              </a:ext>
            </a:extLst>
          </p:cNvPr>
          <p:cNvSpPr txBox="1"/>
          <p:nvPr/>
        </p:nvSpPr>
        <p:spPr>
          <a:xfrm>
            <a:off x="6666964" y="6417733"/>
            <a:ext cx="542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Interact Technologies - Confidential &amp; Proprietary - 2022</a:t>
            </a:r>
          </a:p>
        </p:txBody>
      </p:sp>
    </p:spTree>
    <p:extLst>
      <p:ext uri="{BB962C8B-B14F-4D97-AF65-F5344CB8AC3E}">
        <p14:creationId xmlns:p14="http://schemas.microsoft.com/office/powerpoint/2010/main" val="123026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185">
        <p159:morph option="byChar"/>
      </p:transition>
    </mc:Choice>
    <mc:Fallback xmlns="">
      <p:transition spd="slow" advTm="3185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1F28AB-5715-4C22-88B7-6B6B17803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131" y="1123682"/>
            <a:ext cx="4514850" cy="3671488"/>
          </a:xfrm>
          <a:prstGeom prst="rect">
            <a:avLst/>
          </a:prstGeom>
          <a:noFill/>
        </p:spPr>
      </p:pic>
      <p:sp>
        <p:nvSpPr>
          <p:cNvPr id="9" name="Google Shape;404;p76">
            <a:extLst>
              <a:ext uri="{FF2B5EF4-FFF2-40B4-BE49-F238E27FC236}">
                <a16:creationId xmlns:a16="http://schemas.microsoft.com/office/drawing/2014/main" id="{E067F018-61B4-4BE5-8CD5-59DA74D6F923}"/>
              </a:ext>
            </a:extLst>
          </p:cNvPr>
          <p:cNvSpPr txBox="1"/>
          <p:nvPr/>
        </p:nvSpPr>
        <p:spPr>
          <a:xfrm>
            <a:off x="107849" y="229736"/>
            <a:ext cx="7288374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Myriad Pro" panose="020B0503030403020204"/>
                <a:ea typeface="Google Sans"/>
                <a:cs typeface="Google Sans"/>
                <a:sym typeface="Google Sans"/>
              </a:rPr>
              <a:t>RESIDENT FACING SOLUTION:</a:t>
            </a:r>
            <a:endParaRPr sz="2800" dirty="0">
              <a:solidFill>
                <a:srgbClr val="222222"/>
              </a:solidFill>
              <a:latin typeface="Myriad Pro" panose="020B0503030403020204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595959"/>
              </a:solidFill>
              <a:latin typeface="Myriad Pro" panose="020B0503030403020204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B6BC905-42DB-3817-98C8-5A2DB1D4AA0B}"/>
              </a:ext>
            </a:extLst>
          </p:cNvPr>
          <p:cNvGrpSpPr/>
          <p:nvPr/>
        </p:nvGrpSpPr>
        <p:grpSpPr>
          <a:xfrm>
            <a:off x="3151192" y="3537469"/>
            <a:ext cx="2693364" cy="1871995"/>
            <a:chOff x="3151192" y="3608157"/>
            <a:chExt cx="2693364" cy="187199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494E096-090B-7527-3EB8-D5B21B342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51192" y="4748632"/>
              <a:ext cx="1003149" cy="731520"/>
            </a:xfrm>
            <a:prstGeom prst="rect">
              <a:avLst/>
            </a:prstGeom>
          </p:spPr>
        </p:pic>
        <p:cxnSp>
          <p:nvCxnSpPr>
            <p:cNvPr id="8" name="Connector: Curved 6">
              <a:extLst>
                <a:ext uri="{FF2B5EF4-FFF2-40B4-BE49-F238E27FC236}">
                  <a16:creationId xmlns:a16="http://schemas.microsoft.com/office/drawing/2014/main" id="{AC93580E-1AC2-5E0C-E7B4-7437677E9B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75734" y="3608157"/>
              <a:ext cx="1868822" cy="1506235"/>
            </a:xfrm>
            <a:prstGeom prst="curvedConnector3">
              <a:avLst>
                <a:gd name="adj1" fmla="val 168377"/>
              </a:avLst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1CD67BF-B96E-A021-CA04-BE693274A9F0}"/>
              </a:ext>
            </a:extLst>
          </p:cNvPr>
          <p:cNvSpPr txBox="1"/>
          <p:nvPr/>
        </p:nvSpPr>
        <p:spPr>
          <a:xfrm>
            <a:off x="1289644" y="4940105"/>
            <a:ext cx="3490453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Google Assistance Application</a:t>
            </a:r>
          </a:p>
          <a:p>
            <a:endParaRPr lang="en-US" sz="1100" b="1" dirty="0"/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sz="1100" dirty="0"/>
              <a:t>Voice Enabled Check-In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sz="1100" dirty="0"/>
              <a:t>Voice Controlled Prompts For Resident Thermostat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sz="1100" dirty="0"/>
              <a:t>**Voice Controlled Prompts For Dedicated Lighting**  </a:t>
            </a:r>
          </a:p>
        </p:txBody>
      </p:sp>
      <p:pic>
        <p:nvPicPr>
          <p:cNvPr id="6" name="Picture 10" descr="Image preview">
            <a:extLst>
              <a:ext uri="{FF2B5EF4-FFF2-40B4-BE49-F238E27FC236}">
                <a16:creationId xmlns:a16="http://schemas.microsoft.com/office/drawing/2014/main" id="{466A43D2-E222-9082-01E9-64CABA3CA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7" y="5945746"/>
            <a:ext cx="2764728" cy="79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1D9C69-7968-70ED-3EDF-7283AD1C7773}"/>
              </a:ext>
            </a:extLst>
          </p:cNvPr>
          <p:cNvSpPr txBox="1"/>
          <p:nvPr/>
        </p:nvSpPr>
        <p:spPr>
          <a:xfrm>
            <a:off x="6666964" y="6417733"/>
            <a:ext cx="542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Interact Technologies - Confidential &amp; Proprietary - 2022</a:t>
            </a:r>
          </a:p>
        </p:txBody>
      </p:sp>
    </p:spTree>
    <p:extLst>
      <p:ext uri="{BB962C8B-B14F-4D97-AF65-F5344CB8AC3E}">
        <p14:creationId xmlns:p14="http://schemas.microsoft.com/office/powerpoint/2010/main" val="3174162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586">
        <p159:morph option="byChar"/>
      </p:transition>
    </mc:Choice>
    <mc:Fallback xmlns="">
      <p:transition spd="slow" advTm="3586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1F28AB-5715-4C22-88B7-6B6B17803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131" y="1123682"/>
            <a:ext cx="4514850" cy="3671488"/>
          </a:xfrm>
          <a:prstGeom prst="rect">
            <a:avLst/>
          </a:prstGeom>
          <a:noFill/>
        </p:spPr>
      </p:pic>
      <p:sp>
        <p:nvSpPr>
          <p:cNvPr id="9" name="Google Shape;404;p76">
            <a:extLst>
              <a:ext uri="{FF2B5EF4-FFF2-40B4-BE49-F238E27FC236}">
                <a16:creationId xmlns:a16="http://schemas.microsoft.com/office/drawing/2014/main" id="{E067F018-61B4-4BE5-8CD5-59DA74D6F923}"/>
              </a:ext>
            </a:extLst>
          </p:cNvPr>
          <p:cNvSpPr txBox="1"/>
          <p:nvPr/>
        </p:nvSpPr>
        <p:spPr>
          <a:xfrm>
            <a:off x="107849" y="229736"/>
            <a:ext cx="7288374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Myriad Pro" panose="020B0503030403020204"/>
                <a:ea typeface="Google Sans"/>
                <a:cs typeface="Google Sans"/>
                <a:sym typeface="Google Sans"/>
              </a:rPr>
              <a:t>RESIDENT FACING SOLUTION:</a:t>
            </a:r>
            <a:endParaRPr sz="2800" dirty="0">
              <a:solidFill>
                <a:srgbClr val="222222"/>
              </a:solidFill>
              <a:latin typeface="Myriad Pro" panose="020B0503030403020204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595959"/>
              </a:solidFill>
              <a:latin typeface="Myriad Pro" panose="020B0503030403020204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E443D67-542E-F227-D712-736277F880D7}"/>
              </a:ext>
            </a:extLst>
          </p:cNvPr>
          <p:cNvGrpSpPr/>
          <p:nvPr/>
        </p:nvGrpSpPr>
        <p:grpSpPr>
          <a:xfrm>
            <a:off x="6681479" y="750693"/>
            <a:ext cx="1143906" cy="1052084"/>
            <a:chOff x="8231605" y="1499630"/>
            <a:chExt cx="1143906" cy="1052084"/>
          </a:xfrm>
        </p:grpSpPr>
        <p:pic>
          <p:nvPicPr>
            <p:cNvPr id="5" name="Picture 4" descr="A picture containing accessory, case&#10;&#10;Description automatically generated">
              <a:extLst>
                <a:ext uri="{FF2B5EF4-FFF2-40B4-BE49-F238E27FC236}">
                  <a16:creationId xmlns:a16="http://schemas.microsoft.com/office/drawing/2014/main" id="{1075B43A-C737-1149-7CAD-15973449AA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96" t="19605" r="23335" b="19605"/>
            <a:stretch/>
          </p:blipFill>
          <p:spPr>
            <a:xfrm>
              <a:off x="8714827" y="1499630"/>
              <a:ext cx="660684" cy="818515"/>
            </a:xfrm>
            <a:prstGeom prst="rect">
              <a:avLst/>
            </a:prstGeom>
          </p:spPr>
        </p:pic>
        <p:cxnSp>
          <p:nvCxnSpPr>
            <p:cNvPr id="6" name="Connector: Curved 8">
              <a:extLst>
                <a:ext uri="{FF2B5EF4-FFF2-40B4-BE49-F238E27FC236}">
                  <a16:creationId xmlns:a16="http://schemas.microsoft.com/office/drawing/2014/main" id="{B00CA466-3E7B-EB81-FF0A-4049CAA81FA0}"/>
                </a:ext>
              </a:extLst>
            </p:cNvPr>
            <p:cNvCxnSpPr>
              <a:stCxn id="5" idx="1"/>
            </p:cNvCxnSpPr>
            <p:nvPr/>
          </p:nvCxnSpPr>
          <p:spPr>
            <a:xfrm rot="10800000" flipV="1">
              <a:off x="8231605" y="1908888"/>
              <a:ext cx="483222" cy="642826"/>
            </a:xfrm>
            <a:prstGeom prst="curvedConnector2">
              <a:avLst/>
            </a:prstGeom>
            <a:ln w="285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7E52BD9-B971-E07E-1474-06A279F8E672}"/>
              </a:ext>
            </a:extLst>
          </p:cNvPr>
          <p:cNvSpPr txBox="1"/>
          <p:nvPr/>
        </p:nvSpPr>
        <p:spPr>
          <a:xfrm>
            <a:off x="8029132" y="971734"/>
            <a:ext cx="190848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Wireless Door Contact</a:t>
            </a:r>
          </a:p>
          <a:p>
            <a:endParaRPr lang="en-US" sz="1100" b="1" dirty="0"/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sz="1100" dirty="0"/>
              <a:t>ZigBee Enabled 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sz="1100" dirty="0"/>
              <a:t>Wireless Door Contact</a:t>
            </a:r>
          </a:p>
        </p:txBody>
      </p:sp>
      <p:pic>
        <p:nvPicPr>
          <p:cNvPr id="8" name="Picture 10" descr="Image preview">
            <a:extLst>
              <a:ext uri="{FF2B5EF4-FFF2-40B4-BE49-F238E27FC236}">
                <a16:creationId xmlns:a16="http://schemas.microsoft.com/office/drawing/2014/main" id="{376137C8-58D5-05A2-82E1-17C74558C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7" y="5945746"/>
            <a:ext cx="2764728" cy="79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E91BF9-AB5F-68D8-EABC-06580397944E}"/>
              </a:ext>
            </a:extLst>
          </p:cNvPr>
          <p:cNvSpPr txBox="1"/>
          <p:nvPr/>
        </p:nvSpPr>
        <p:spPr>
          <a:xfrm>
            <a:off x="6666964" y="6417733"/>
            <a:ext cx="542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Interact Technologies - Confidential &amp; Proprietary - 2022</a:t>
            </a:r>
          </a:p>
        </p:txBody>
      </p:sp>
    </p:spTree>
    <p:extLst>
      <p:ext uri="{BB962C8B-B14F-4D97-AF65-F5344CB8AC3E}">
        <p14:creationId xmlns:p14="http://schemas.microsoft.com/office/powerpoint/2010/main" val="2881426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5632">
        <p159:morph option="byChar"/>
      </p:transition>
    </mc:Choice>
    <mc:Fallback xmlns="">
      <p:transition spd="slow" advTm="5632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1F28AB-5715-4C22-88B7-6B6B17803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131" y="1123682"/>
            <a:ext cx="4514850" cy="3671488"/>
          </a:xfrm>
          <a:prstGeom prst="rect">
            <a:avLst/>
          </a:prstGeom>
          <a:noFill/>
        </p:spPr>
      </p:pic>
      <p:sp>
        <p:nvSpPr>
          <p:cNvPr id="9" name="Google Shape;404;p76">
            <a:extLst>
              <a:ext uri="{FF2B5EF4-FFF2-40B4-BE49-F238E27FC236}">
                <a16:creationId xmlns:a16="http://schemas.microsoft.com/office/drawing/2014/main" id="{E067F018-61B4-4BE5-8CD5-59DA74D6F923}"/>
              </a:ext>
            </a:extLst>
          </p:cNvPr>
          <p:cNvSpPr txBox="1"/>
          <p:nvPr/>
        </p:nvSpPr>
        <p:spPr>
          <a:xfrm>
            <a:off x="107849" y="229736"/>
            <a:ext cx="7288374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Myriad Pro" panose="020B0503030403020204"/>
                <a:ea typeface="Google Sans"/>
                <a:cs typeface="Google Sans"/>
                <a:sym typeface="Google Sans"/>
              </a:rPr>
              <a:t>RESIDENT FACING SOLUTION:</a:t>
            </a:r>
            <a:endParaRPr sz="2800" dirty="0">
              <a:solidFill>
                <a:srgbClr val="222222"/>
              </a:solidFill>
              <a:latin typeface="Myriad Pro" panose="020B0503030403020204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595959"/>
              </a:solidFill>
              <a:latin typeface="Myriad Pro" panose="020B0503030403020204"/>
              <a:ea typeface="Google Sans"/>
              <a:cs typeface="Google Sans"/>
              <a:sym typeface="Google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3F6E54-C917-5B05-B27D-F570C9091A84}"/>
              </a:ext>
            </a:extLst>
          </p:cNvPr>
          <p:cNvSpPr txBox="1"/>
          <p:nvPr/>
        </p:nvSpPr>
        <p:spPr>
          <a:xfrm>
            <a:off x="8011715" y="4484634"/>
            <a:ext cx="2190618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Smart Dimmer Switch – Phase </a:t>
            </a:r>
            <a:r>
              <a:rPr lang="en-US" sz="1100" b="1" dirty="0" err="1"/>
              <a:t>ll</a:t>
            </a:r>
            <a:endParaRPr lang="en-US" sz="1100" b="1" dirty="0"/>
          </a:p>
          <a:p>
            <a:endParaRPr lang="en-US" sz="1100" b="1" dirty="0"/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sz="1100" dirty="0"/>
              <a:t>ZigBee Enabled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sz="1100" dirty="0"/>
              <a:t>Voice Control Via Google Assistant – 3</a:t>
            </a:r>
            <a:r>
              <a:rPr lang="en-US" sz="1100" baseline="30000" dirty="0"/>
              <a:t>rd</a:t>
            </a:r>
            <a:r>
              <a:rPr lang="en-US" sz="1100" dirty="0"/>
              <a:t> Party API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9FAD2A4-BBF7-1B08-3340-A48C7411D349}"/>
              </a:ext>
            </a:extLst>
          </p:cNvPr>
          <p:cNvGrpSpPr/>
          <p:nvPr/>
        </p:nvGrpSpPr>
        <p:grpSpPr>
          <a:xfrm>
            <a:off x="5965371" y="2508074"/>
            <a:ext cx="2448365" cy="1888910"/>
            <a:chOff x="5965371" y="2508074"/>
            <a:chExt cx="2448365" cy="1888910"/>
          </a:xfrm>
        </p:grpSpPr>
        <p:pic>
          <p:nvPicPr>
            <p:cNvPr id="8" name="Picture 2" descr="Wirecon White Decorator Wall Switch for Mobile Homes and RV's">
              <a:extLst>
                <a:ext uri="{FF2B5EF4-FFF2-40B4-BE49-F238E27FC236}">
                  <a16:creationId xmlns:a16="http://schemas.microsoft.com/office/drawing/2014/main" id="{C8B7808C-47EA-A6B3-19BD-90ADAE612C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355" t="3568" r="23297" b="3268"/>
            <a:stretch/>
          </p:blipFill>
          <p:spPr bwMode="auto">
            <a:xfrm>
              <a:off x="8054079" y="3701987"/>
              <a:ext cx="359657" cy="6949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" name="Connector: Curved 12">
              <a:extLst>
                <a:ext uri="{FF2B5EF4-FFF2-40B4-BE49-F238E27FC236}">
                  <a16:creationId xmlns:a16="http://schemas.microsoft.com/office/drawing/2014/main" id="{2A6D3FBE-8608-322C-508B-8DB8FECAD59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965371" y="2508074"/>
              <a:ext cx="2046344" cy="1541412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10" descr="Image preview">
            <a:extLst>
              <a:ext uri="{FF2B5EF4-FFF2-40B4-BE49-F238E27FC236}">
                <a16:creationId xmlns:a16="http://schemas.microsoft.com/office/drawing/2014/main" id="{9BEA3F8F-C010-31E8-1A9B-7865F5DE8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7" y="5945746"/>
            <a:ext cx="2764728" cy="79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05F2D1-1402-2C67-0F41-B608876A7710}"/>
              </a:ext>
            </a:extLst>
          </p:cNvPr>
          <p:cNvSpPr txBox="1"/>
          <p:nvPr/>
        </p:nvSpPr>
        <p:spPr>
          <a:xfrm>
            <a:off x="6666964" y="6417733"/>
            <a:ext cx="542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Interact Technologies - Confidential &amp; Proprietary - 2022</a:t>
            </a:r>
          </a:p>
        </p:txBody>
      </p:sp>
    </p:spTree>
    <p:extLst>
      <p:ext uri="{BB962C8B-B14F-4D97-AF65-F5344CB8AC3E}">
        <p14:creationId xmlns:p14="http://schemas.microsoft.com/office/powerpoint/2010/main" val="256965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289">
        <p159:morph option="byChar"/>
      </p:transition>
    </mc:Choice>
    <mc:Fallback xmlns="">
      <p:transition spd="slow" advTm="6289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1F28AB-5715-4C22-88B7-6B6B17803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131" y="1123682"/>
            <a:ext cx="4514850" cy="3671488"/>
          </a:xfrm>
          <a:prstGeom prst="rect">
            <a:avLst/>
          </a:prstGeom>
          <a:noFill/>
        </p:spPr>
      </p:pic>
      <p:sp>
        <p:nvSpPr>
          <p:cNvPr id="7" name="Google Shape;404;p76">
            <a:extLst>
              <a:ext uri="{FF2B5EF4-FFF2-40B4-BE49-F238E27FC236}">
                <a16:creationId xmlns:a16="http://schemas.microsoft.com/office/drawing/2014/main" id="{582FBDAD-6D46-4F59-9BF6-52D595F03E52}"/>
              </a:ext>
            </a:extLst>
          </p:cNvPr>
          <p:cNvSpPr txBox="1"/>
          <p:nvPr/>
        </p:nvSpPr>
        <p:spPr>
          <a:xfrm>
            <a:off x="107849" y="229736"/>
            <a:ext cx="7288374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Myriad Pro" panose="020B0503030403020204"/>
                <a:ea typeface="Google Sans"/>
                <a:cs typeface="Google Sans"/>
                <a:sym typeface="Google Sans"/>
              </a:rPr>
              <a:t>RESIDENT FACING SOLUTION:</a:t>
            </a:r>
            <a:endParaRPr sz="2800" dirty="0">
              <a:solidFill>
                <a:srgbClr val="222222"/>
              </a:solidFill>
              <a:latin typeface="Myriad Pro" panose="020B0503030403020204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595959"/>
              </a:solidFill>
              <a:latin typeface="Myriad Pro" panose="020B0503030403020204"/>
              <a:ea typeface="Google Sans"/>
              <a:cs typeface="Google Sans"/>
              <a:sym typeface="Google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8A95D8-0172-9F15-A372-D2AFBCCB2D41}"/>
              </a:ext>
            </a:extLst>
          </p:cNvPr>
          <p:cNvSpPr txBox="1"/>
          <p:nvPr/>
        </p:nvSpPr>
        <p:spPr>
          <a:xfrm>
            <a:off x="710967" y="3884750"/>
            <a:ext cx="219061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Safety Device Panic System</a:t>
            </a:r>
          </a:p>
          <a:p>
            <a:endParaRPr lang="en-US" sz="1100" b="1" dirty="0"/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sz="1100" dirty="0"/>
              <a:t>Alerts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sz="1100" dirty="0"/>
              <a:t>Incident Records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sz="1100" dirty="0"/>
              <a:t>Updated Locations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sz="1100" dirty="0"/>
              <a:t>Location Specific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A16DB43-2920-8A2B-F044-9C75C39CBCDF}"/>
              </a:ext>
            </a:extLst>
          </p:cNvPr>
          <p:cNvGrpSpPr/>
          <p:nvPr/>
        </p:nvGrpSpPr>
        <p:grpSpPr>
          <a:xfrm>
            <a:off x="2718466" y="3101788"/>
            <a:ext cx="2373487" cy="1631092"/>
            <a:chOff x="2718466" y="3101788"/>
            <a:chExt cx="2373487" cy="1631092"/>
          </a:xfrm>
        </p:grpSpPr>
        <p:cxnSp>
          <p:nvCxnSpPr>
            <p:cNvPr id="6" name="Curved Connector 5">
              <a:extLst>
                <a:ext uri="{FF2B5EF4-FFF2-40B4-BE49-F238E27FC236}">
                  <a16:creationId xmlns:a16="http://schemas.microsoft.com/office/drawing/2014/main" id="{5E0B2345-46EE-CAF3-87FA-EC8D86D5A8BF}"/>
                </a:ext>
              </a:extLst>
            </p:cNvPr>
            <p:cNvCxnSpPr/>
            <p:nvPr/>
          </p:nvCxnSpPr>
          <p:spPr>
            <a:xfrm flipV="1">
              <a:off x="3388659" y="3101788"/>
              <a:ext cx="1703294" cy="1077681"/>
            </a:xfrm>
            <a:prstGeom prst="curvedConnector3">
              <a:avLst/>
            </a:prstGeom>
            <a:ln w="38100"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314" name="Picture 2" descr="TraknProtect">
              <a:extLst>
                <a:ext uri="{FF2B5EF4-FFF2-40B4-BE49-F238E27FC236}">
                  <a16:creationId xmlns:a16="http://schemas.microsoft.com/office/drawing/2014/main" id="{9884514A-19A3-0D06-F0A2-81F728CC8D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68357">
              <a:off x="2718466" y="3300535"/>
              <a:ext cx="646711" cy="14323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" name="Picture 10" descr="Image preview">
            <a:extLst>
              <a:ext uri="{FF2B5EF4-FFF2-40B4-BE49-F238E27FC236}">
                <a16:creationId xmlns:a16="http://schemas.microsoft.com/office/drawing/2014/main" id="{A9FA2B92-7416-A1EF-C53B-C989333D1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7" y="5945746"/>
            <a:ext cx="2764728" cy="79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2F824E-0352-494A-0D73-5C017D39CFA5}"/>
              </a:ext>
            </a:extLst>
          </p:cNvPr>
          <p:cNvSpPr txBox="1"/>
          <p:nvPr/>
        </p:nvSpPr>
        <p:spPr>
          <a:xfrm>
            <a:off x="6666964" y="6417733"/>
            <a:ext cx="542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Interact Technologies - Confidential &amp; Proprietary - 2022</a:t>
            </a:r>
          </a:p>
        </p:txBody>
      </p:sp>
    </p:spTree>
    <p:extLst>
      <p:ext uri="{BB962C8B-B14F-4D97-AF65-F5344CB8AC3E}">
        <p14:creationId xmlns:p14="http://schemas.microsoft.com/office/powerpoint/2010/main" val="804049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658">
        <p159:morph option="byChar"/>
      </p:transition>
    </mc:Choice>
    <mc:Fallback xmlns="">
      <p:transition spd="slow" advTm="6658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1F28AB-5715-4C22-88B7-6B6B17803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131" y="1123682"/>
            <a:ext cx="4514850" cy="3671488"/>
          </a:xfrm>
          <a:prstGeom prst="rect">
            <a:avLst/>
          </a:prstGeom>
          <a:noFill/>
        </p:spPr>
      </p:pic>
      <p:sp>
        <p:nvSpPr>
          <p:cNvPr id="7" name="Google Shape;404;p76">
            <a:extLst>
              <a:ext uri="{FF2B5EF4-FFF2-40B4-BE49-F238E27FC236}">
                <a16:creationId xmlns:a16="http://schemas.microsoft.com/office/drawing/2014/main" id="{582FBDAD-6D46-4F59-9BF6-52D595F03E52}"/>
              </a:ext>
            </a:extLst>
          </p:cNvPr>
          <p:cNvSpPr txBox="1"/>
          <p:nvPr/>
        </p:nvSpPr>
        <p:spPr>
          <a:xfrm>
            <a:off x="107849" y="229736"/>
            <a:ext cx="7288374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Myriad Pro" panose="020B0503030403020204"/>
                <a:ea typeface="Google Sans"/>
                <a:cs typeface="Google Sans"/>
                <a:sym typeface="Google Sans"/>
              </a:rPr>
              <a:t>RESIDENT FACING SOLUTION:</a:t>
            </a:r>
            <a:endParaRPr sz="2800" dirty="0">
              <a:solidFill>
                <a:srgbClr val="222222"/>
              </a:solidFill>
              <a:latin typeface="Myriad Pro" panose="020B0503030403020204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595959"/>
              </a:solidFill>
              <a:latin typeface="Myriad Pro" panose="020B0503030403020204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9B230AF-7AEB-5022-63DA-FFAB14292364}"/>
              </a:ext>
            </a:extLst>
          </p:cNvPr>
          <p:cNvGrpSpPr/>
          <p:nvPr/>
        </p:nvGrpSpPr>
        <p:grpSpPr>
          <a:xfrm>
            <a:off x="5205605" y="432132"/>
            <a:ext cx="890395" cy="2364854"/>
            <a:chOff x="5205605" y="432132"/>
            <a:chExt cx="890395" cy="2364854"/>
          </a:xfrm>
        </p:grpSpPr>
        <p:cxnSp>
          <p:nvCxnSpPr>
            <p:cNvPr id="5" name="Curved Connector 4">
              <a:extLst>
                <a:ext uri="{FF2B5EF4-FFF2-40B4-BE49-F238E27FC236}">
                  <a16:creationId xmlns:a16="http://schemas.microsoft.com/office/drawing/2014/main" id="{A1F2907B-544A-ABE5-E999-5DBF9CD0F71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881958" y="1582945"/>
              <a:ext cx="1800555" cy="627528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362" name="Picture 2" descr="184 Water Leak Detector Stock Photos, Pictures &amp; Royalty-Free Images -  iStock">
              <a:extLst>
                <a:ext uri="{FF2B5EF4-FFF2-40B4-BE49-F238E27FC236}">
                  <a16:creationId xmlns:a16="http://schemas.microsoft.com/office/drawing/2014/main" id="{F4683D1A-3201-4EDA-BB61-F0BE33F6E1B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17" t="22543" r="13138" b="23922"/>
            <a:stretch/>
          </p:blipFill>
          <p:spPr bwMode="auto">
            <a:xfrm>
              <a:off x="5205605" y="432132"/>
              <a:ext cx="878126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02198B7-142B-E9CE-90CB-6D8F4CDA7A1A}"/>
              </a:ext>
            </a:extLst>
          </p:cNvPr>
          <p:cNvSpPr txBox="1"/>
          <p:nvPr/>
        </p:nvSpPr>
        <p:spPr>
          <a:xfrm>
            <a:off x="6142094" y="380661"/>
            <a:ext cx="219061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Leak Detection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sz="1100" dirty="0"/>
              <a:t>Alerts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sz="1100" dirty="0"/>
              <a:t>Incident Records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sz="1100" dirty="0"/>
              <a:t>Wi-Fi Connected</a:t>
            </a:r>
          </a:p>
        </p:txBody>
      </p:sp>
      <p:pic>
        <p:nvPicPr>
          <p:cNvPr id="6" name="Picture 10" descr="Image preview">
            <a:extLst>
              <a:ext uri="{FF2B5EF4-FFF2-40B4-BE49-F238E27FC236}">
                <a16:creationId xmlns:a16="http://schemas.microsoft.com/office/drawing/2014/main" id="{FD8EB730-BD5C-5876-8FA0-43CC6211A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7" y="5945746"/>
            <a:ext cx="2764728" cy="79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FACA20-6C34-9A42-B7BC-CC3D416236E1}"/>
              </a:ext>
            </a:extLst>
          </p:cNvPr>
          <p:cNvSpPr txBox="1"/>
          <p:nvPr/>
        </p:nvSpPr>
        <p:spPr>
          <a:xfrm>
            <a:off x="6666964" y="6417733"/>
            <a:ext cx="542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Interact Technologies - Confidential &amp; Proprietary - 2022</a:t>
            </a:r>
          </a:p>
        </p:txBody>
      </p:sp>
    </p:spTree>
    <p:extLst>
      <p:ext uri="{BB962C8B-B14F-4D97-AF65-F5344CB8AC3E}">
        <p14:creationId xmlns:p14="http://schemas.microsoft.com/office/powerpoint/2010/main" val="1831499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415">
        <p159:morph option="byChar"/>
      </p:transition>
    </mc:Choice>
    <mc:Fallback xmlns="">
      <p:transition spd="slow" advTm="6415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1F28AB-5715-4C22-88B7-6B6B17803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131" y="1123682"/>
            <a:ext cx="4514850" cy="3671488"/>
          </a:xfrm>
          <a:prstGeom prst="rect">
            <a:avLst/>
          </a:prstGeom>
          <a:noFill/>
        </p:spPr>
      </p:pic>
      <p:sp>
        <p:nvSpPr>
          <p:cNvPr id="7" name="Google Shape;404;p76">
            <a:extLst>
              <a:ext uri="{FF2B5EF4-FFF2-40B4-BE49-F238E27FC236}">
                <a16:creationId xmlns:a16="http://schemas.microsoft.com/office/drawing/2014/main" id="{582FBDAD-6D46-4F59-9BF6-52D595F03E52}"/>
              </a:ext>
            </a:extLst>
          </p:cNvPr>
          <p:cNvSpPr txBox="1"/>
          <p:nvPr/>
        </p:nvSpPr>
        <p:spPr>
          <a:xfrm>
            <a:off x="107849" y="229736"/>
            <a:ext cx="7288374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Myriad Pro" panose="020B0503030403020204"/>
                <a:ea typeface="Google Sans"/>
                <a:cs typeface="Google Sans"/>
                <a:sym typeface="Google Sans"/>
              </a:rPr>
              <a:t>RESIDENT FACING SOLUTION:</a:t>
            </a:r>
            <a:endParaRPr sz="2800" dirty="0">
              <a:solidFill>
                <a:srgbClr val="222222"/>
              </a:solidFill>
              <a:latin typeface="Myriad Pro" panose="020B0503030403020204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595959"/>
              </a:solidFill>
              <a:latin typeface="Myriad Pro" panose="020B0503030403020204"/>
              <a:ea typeface="Google Sans"/>
              <a:cs typeface="Google Sans"/>
              <a:sym typeface="Google San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28545B-B227-C032-4643-6A984F4EB582}"/>
              </a:ext>
            </a:extLst>
          </p:cNvPr>
          <p:cNvSpPr txBox="1"/>
          <p:nvPr/>
        </p:nvSpPr>
        <p:spPr>
          <a:xfrm>
            <a:off x="9473915" y="1526290"/>
            <a:ext cx="219061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Smart Door Lock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sz="1100" dirty="0"/>
              <a:t>Alerts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sz="1100" dirty="0"/>
              <a:t>App Based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sz="1100" dirty="0"/>
              <a:t>Wi-Fi – BLE - Zigbee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234A4CA-F2CD-2E9C-CBEE-503734B14119}"/>
              </a:ext>
            </a:extLst>
          </p:cNvPr>
          <p:cNvGrpSpPr/>
          <p:nvPr/>
        </p:nvGrpSpPr>
        <p:grpSpPr>
          <a:xfrm>
            <a:off x="6768171" y="1123682"/>
            <a:ext cx="2889923" cy="1280096"/>
            <a:chOff x="6499229" y="1107086"/>
            <a:chExt cx="2889923" cy="1280096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1686F3A-C2EC-2EBE-D805-475E3D8EE441}"/>
                </a:ext>
              </a:extLst>
            </p:cNvPr>
            <p:cNvGrpSpPr/>
            <p:nvPr/>
          </p:nvGrpSpPr>
          <p:grpSpPr>
            <a:xfrm>
              <a:off x="8667089" y="1107086"/>
              <a:ext cx="722063" cy="1280096"/>
              <a:chOff x="8725333" y="1551660"/>
              <a:chExt cx="1208764" cy="2435597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DDA2F551-7C65-4421-339D-B43B5BE298E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43929" t="26429" r="41999" b="26387"/>
              <a:stretch/>
            </p:blipFill>
            <p:spPr>
              <a:xfrm>
                <a:off x="8725333" y="1551660"/>
                <a:ext cx="824754" cy="1690069"/>
              </a:xfrm>
              <a:prstGeom prst="rect">
                <a:avLst/>
              </a:prstGeom>
            </p:spPr>
          </p:pic>
          <p:sp>
            <p:nvSpPr>
              <p:cNvPr id="20" name="Triangle 19">
                <a:extLst>
                  <a:ext uri="{FF2B5EF4-FFF2-40B4-BE49-F238E27FC236}">
                    <a16:creationId xmlns:a16="http://schemas.microsoft.com/office/drawing/2014/main" id="{003D10F9-3B92-C178-CC4E-0182F78BD8DB}"/>
                  </a:ext>
                </a:extLst>
              </p:cNvPr>
              <p:cNvSpPr/>
              <p:nvPr/>
            </p:nvSpPr>
            <p:spPr>
              <a:xfrm rot="7788328">
                <a:off x="9619638" y="3672797"/>
                <a:ext cx="411152" cy="217767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4" name="Curved Connector 23">
              <a:extLst>
                <a:ext uri="{FF2B5EF4-FFF2-40B4-BE49-F238E27FC236}">
                  <a16:creationId xmlns:a16="http://schemas.microsoft.com/office/drawing/2014/main" id="{26CD74ED-8655-5B16-0B7F-B071E612B814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499229" y="1417756"/>
              <a:ext cx="2167861" cy="729655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10" descr="Image preview">
            <a:extLst>
              <a:ext uri="{FF2B5EF4-FFF2-40B4-BE49-F238E27FC236}">
                <a16:creationId xmlns:a16="http://schemas.microsoft.com/office/drawing/2014/main" id="{7FD63A4A-BF4A-7EFD-C1E8-9064BE7F7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7" y="5945746"/>
            <a:ext cx="2764728" cy="79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7BD40C-D5EE-A87F-FB14-935818677330}"/>
              </a:ext>
            </a:extLst>
          </p:cNvPr>
          <p:cNvSpPr txBox="1"/>
          <p:nvPr/>
        </p:nvSpPr>
        <p:spPr>
          <a:xfrm>
            <a:off x="6666964" y="6417733"/>
            <a:ext cx="542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Interact Technologies - Confidential &amp; Proprietary - 2022</a:t>
            </a:r>
          </a:p>
        </p:txBody>
      </p:sp>
    </p:spTree>
    <p:extLst>
      <p:ext uri="{BB962C8B-B14F-4D97-AF65-F5344CB8AC3E}">
        <p14:creationId xmlns:p14="http://schemas.microsoft.com/office/powerpoint/2010/main" val="1156053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817">
        <p159:morph option="byChar"/>
      </p:transition>
    </mc:Choice>
    <mc:Fallback xmlns="">
      <p:transition spd="slow" advTm="4817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1F28AB-5715-4C22-88B7-6B6B17803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131" y="1123682"/>
            <a:ext cx="4514850" cy="3671488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1882E5-9BBC-4C86-8A53-362BC73B602D}"/>
              </a:ext>
            </a:extLst>
          </p:cNvPr>
          <p:cNvSpPr txBox="1"/>
          <p:nvPr/>
        </p:nvSpPr>
        <p:spPr>
          <a:xfrm>
            <a:off x="6233159" y="4605540"/>
            <a:ext cx="2190618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Smart Dimmer Switch – Phase </a:t>
            </a:r>
            <a:r>
              <a:rPr lang="en-US" sz="1100" b="1" dirty="0" err="1"/>
              <a:t>ll</a:t>
            </a:r>
            <a:endParaRPr lang="en-US" sz="1100" b="1" dirty="0"/>
          </a:p>
          <a:p>
            <a:endParaRPr lang="en-US" sz="1100" b="1" dirty="0"/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sz="1100" dirty="0"/>
              <a:t>ZigBee Enabled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sz="1100" dirty="0"/>
              <a:t>Voice Control Via Google Assistant – 3</a:t>
            </a:r>
            <a:r>
              <a:rPr lang="en-US" sz="1100" baseline="30000" dirty="0"/>
              <a:t>rd</a:t>
            </a:r>
            <a:r>
              <a:rPr lang="en-US" sz="1100" dirty="0"/>
              <a:t> Party API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8941E30-5028-45F1-B4FF-D832E9055225}"/>
              </a:ext>
            </a:extLst>
          </p:cNvPr>
          <p:cNvGrpSpPr/>
          <p:nvPr/>
        </p:nvGrpSpPr>
        <p:grpSpPr>
          <a:xfrm>
            <a:off x="6251293" y="2902812"/>
            <a:ext cx="2448365" cy="1888910"/>
            <a:chOff x="5965371" y="2508074"/>
            <a:chExt cx="2448365" cy="1888910"/>
          </a:xfrm>
        </p:grpSpPr>
        <p:pic>
          <p:nvPicPr>
            <p:cNvPr id="12" name="Picture 2" descr="Wirecon White Decorator Wall Switch for Mobile Homes and RV's">
              <a:extLst>
                <a:ext uri="{FF2B5EF4-FFF2-40B4-BE49-F238E27FC236}">
                  <a16:creationId xmlns:a16="http://schemas.microsoft.com/office/drawing/2014/main" id="{A3D3E47F-727F-4F56-B178-77195B595A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355" t="3568" r="23297" b="3268"/>
            <a:stretch/>
          </p:blipFill>
          <p:spPr bwMode="auto">
            <a:xfrm>
              <a:off x="8054079" y="3701987"/>
              <a:ext cx="359657" cy="6949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3" name="Connector: Curved 12">
              <a:extLst>
                <a:ext uri="{FF2B5EF4-FFF2-40B4-BE49-F238E27FC236}">
                  <a16:creationId xmlns:a16="http://schemas.microsoft.com/office/drawing/2014/main" id="{5A8D44A0-3E39-4297-BB83-8B8BE4DA4242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965371" y="2508074"/>
              <a:ext cx="2046344" cy="1541412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Google Shape;404;p76">
            <a:extLst>
              <a:ext uri="{FF2B5EF4-FFF2-40B4-BE49-F238E27FC236}">
                <a16:creationId xmlns:a16="http://schemas.microsoft.com/office/drawing/2014/main" id="{582FBDAD-6D46-4F59-9BF6-52D595F03E52}"/>
              </a:ext>
            </a:extLst>
          </p:cNvPr>
          <p:cNvSpPr txBox="1"/>
          <p:nvPr/>
        </p:nvSpPr>
        <p:spPr>
          <a:xfrm>
            <a:off x="56308" y="23402"/>
            <a:ext cx="7288374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Myriad Pro" panose="020B0503030403020204"/>
                <a:ea typeface="Google Sans"/>
                <a:cs typeface="Google Sans"/>
                <a:sym typeface="Google Sans"/>
              </a:rPr>
              <a:t>RESIDENT FACING SOLUTION:</a:t>
            </a:r>
            <a:endParaRPr sz="2800" dirty="0">
              <a:solidFill>
                <a:srgbClr val="222222"/>
              </a:solidFill>
              <a:latin typeface="Myriad Pro" panose="020B0503030403020204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595959"/>
              </a:solidFill>
              <a:latin typeface="Myriad Pro" panose="020B0503030403020204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00CDC19-4023-A79C-44E3-51E6C16139F9}"/>
              </a:ext>
            </a:extLst>
          </p:cNvPr>
          <p:cNvGrpSpPr/>
          <p:nvPr/>
        </p:nvGrpSpPr>
        <p:grpSpPr>
          <a:xfrm>
            <a:off x="4956197" y="3996616"/>
            <a:ext cx="2467001" cy="2788124"/>
            <a:chOff x="5908763" y="3945436"/>
            <a:chExt cx="2467001" cy="278812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E8E3CD2-8259-2F25-EE01-86599482BF82}"/>
                </a:ext>
              </a:extLst>
            </p:cNvPr>
            <p:cNvGrpSpPr/>
            <p:nvPr/>
          </p:nvGrpSpPr>
          <p:grpSpPr>
            <a:xfrm>
              <a:off x="5908763" y="3945436"/>
              <a:ext cx="1311047" cy="2269329"/>
              <a:chOff x="6590080" y="3176424"/>
              <a:chExt cx="1311047" cy="2269329"/>
            </a:xfrm>
          </p:grpSpPr>
          <p:cxnSp>
            <p:nvCxnSpPr>
              <p:cNvPr id="3" name="Curved Connector 2">
                <a:extLst>
                  <a:ext uri="{FF2B5EF4-FFF2-40B4-BE49-F238E27FC236}">
                    <a16:creationId xmlns:a16="http://schemas.microsoft.com/office/drawing/2014/main" id="{C2348F58-803E-6AA1-5F23-43AE4C24AF2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6691070" y="3216628"/>
                <a:ext cx="1250262" cy="1169853"/>
              </a:xfrm>
              <a:prstGeom prst="curvedConnector3">
                <a:avLst>
                  <a:gd name="adj1" fmla="val 28330"/>
                </a:avLst>
              </a:prstGeom>
              <a:ln w="31750" cmpd="sng"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" name="Picture 2" descr="Device Setup">
                <a:extLst>
                  <a:ext uri="{FF2B5EF4-FFF2-40B4-BE49-F238E27FC236}">
                    <a16:creationId xmlns:a16="http://schemas.microsoft.com/office/drawing/2014/main" id="{C9A3CFCB-4B37-1DEA-E9B8-86E429C435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90080" y="4206617"/>
                <a:ext cx="1258928" cy="12391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B50A757-EF32-4A0A-4F45-BAF7CE4A8EFB}"/>
                </a:ext>
              </a:extLst>
            </p:cNvPr>
            <p:cNvSpPr txBox="1"/>
            <p:nvPr/>
          </p:nvSpPr>
          <p:spPr>
            <a:xfrm>
              <a:off x="6814108" y="5625564"/>
              <a:ext cx="1561656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/>
                <a:t>TV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140 FTG Channels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IPG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Remote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Cloud DVR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Casting</a:t>
              </a:r>
              <a:endParaRPr lang="en-US" sz="1100" b="1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B43030A-7894-E28F-5EA1-5D40D4994566}"/>
              </a:ext>
            </a:extLst>
          </p:cNvPr>
          <p:cNvGrpSpPr/>
          <p:nvPr/>
        </p:nvGrpSpPr>
        <p:grpSpPr>
          <a:xfrm>
            <a:off x="7285330" y="2498842"/>
            <a:ext cx="3833386" cy="3947894"/>
            <a:chOff x="181944" y="2069792"/>
            <a:chExt cx="3833386" cy="3947894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B5D32BB-3905-E950-9111-618FFA56EE37}"/>
                </a:ext>
              </a:extLst>
            </p:cNvPr>
            <p:cNvGrpSpPr/>
            <p:nvPr/>
          </p:nvGrpSpPr>
          <p:grpSpPr>
            <a:xfrm>
              <a:off x="181944" y="2069792"/>
              <a:ext cx="2088413" cy="1221980"/>
              <a:chOff x="7113030" y="2468344"/>
              <a:chExt cx="2088413" cy="1221980"/>
            </a:xfrm>
          </p:grpSpPr>
          <p:cxnSp>
            <p:nvCxnSpPr>
              <p:cNvPr id="18" name="Connector: Curved 5">
                <a:extLst>
                  <a:ext uri="{FF2B5EF4-FFF2-40B4-BE49-F238E27FC236}">
                    <a16:creationId xmlns:a16="http://schemas.microsoft.com/office/drawing/2014/main" id="{BFB1A9C6-0A92-F2BA-09F0-87839C83F89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113030" y="3227879"/>
                <a:ext cx="1595074" cy="261928"/>
              </a:xfrm>
              <a:prstGeom prst="curvedConnector3">
                <a:avLst>
                  <a:gd name="adj1" fmla="val 50000"/>
                </a:avLst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13F261B-EF49-FF0C-D34C-AC18548EE10A}"/>
                  </a:ext>
                </a:extLst>
              </p:cNvPr>
              <p:cNvGrpSpPr/>
              <p:nvPr/>
            </p:nvGrpSpPr>
            <p:grpSpPr>
              <a:xfrm>
                <a:off x="8713565" y="2468344"/>
                <a:ext cx="487878" cy="1221980"/>
                <a:chOff x="8713565" y="2468344"/>
                <a:chExt cx="487878" cy="1221980"/>
              </a:xfrm>
            </p:grpSpPr>
            <p:pic>
              <p:nvPicPr>
                <p:cNvPr id="20" name="Picture 10" descr="Ruckus H320 - wireless access point - Wi-Fi 5">
                  <a:extLst>
                    <a:ext uri="{FF2B5EF4-FFF2-40B4-BE49-F238E27FC236}">
                      <a16:creationId xmlns:a16="http://schemas.microsoft.com/office/drawing/2014/main" id="{0A7182BB-5300-779A-1382-4A15AA89908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3770" r="33736" b="4825"/>
                <a:stretch/>
              </p:blipFill>
              <p:spPr bwMode="auto">
                <a:xfrm rot="45059">
                  <a:off x="8713565" y="2853861"/>
                  <a:ext cx="487878" cy="83646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1" name="Picture 20" descr="Icon&#10;&#10;Description automatically generated">
                  <a:extLst>
                    <a:ext uri="{FF2B5EF4-FFF2-40B4-BE49-F238E27FC236}">
                      <a16:creationId xmlns:a16="http://schemas.microsoft.com/office/drawing/2014/main" id="{B4D1160E-C56A-D16B-209C-CA20D9967A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837" y="2468344"/>
                  <a:ext cx="397334" cy="346552"/>
                </a:xfrm>
                <a:prstGeom prst="rect">
                  <a:avLst/>
                </a:prstGeom>
              </p:spPr>
            </p:pic>
          </p:grp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80E2B0D-6410-3BEB-3833-6FC1B30BC64B}"/>
                </a:ext>
              </a:extLst>
            </p:cNvPr>
            <p:cNvSpPr txBox="1"/>
            <p:nvPr/>
          </p:nvSpPr>
          <p:spPr>
            <a:xfrm>
              <a:off x="1884533" y="3386196"/>
              <a:ext cx="2130797" cy="26314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/>
                <a:t>Community Wi-Fi</a:t>
              </a:r>
            </a:p>
            <a:p>
              <a:endParaRPr lang="en-US" sz="1100" b="1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Generates revenue with positive ROI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Reduces onboarding process for Smart Building and IoT technology onboarding.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Door Locks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Smart Thermostats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Voice Controls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Leak Detection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Smart Switches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Resident &amp; Employee Safety Devices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endParaRPr lang="en-US" sz="11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313BDDC-2E5E-BC30-D9A0-FB6C02C02EAF}"/>
              </a:ext>
            </a:extLst>
          </p:cNvPr>
          <p:cNvGrpSpPr/>
          <p:nvPr/>
        </p:nvGrpSpPr>
        <p:grpSpPr>
          <a:xfrm>
            <a:off x="6854798" y="243498"/>
            <a:ext cx="3411477" cy="1628030"/>
            <a:chOff x="6526143" y="750693"/>
            <a:chExt cx="3411477" cy="162803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CBADF48-714D-9C8B-00E9-5EE2468E5B4C}"/>
                </a:ext>
              </a:extLst>
            </p:cNvPr>
            <p:cNvGrpSpPr/>
            <p:nvPr/>
          </p:nvGrpSpPr>
          <p:grpSpPr>
            <a:xfrm>
              <a:off x="6526143" y="750693"/>
              <a:ext cx="1299242" cy="1628030"/>
              <a:chOff x="8076269" y="1499630"/>
              <a:chExt cx="1299242" cy="1628030"/>
            </a:xfrm>
          </p:grpSpPr>
          <p:pic>
            <p:nvPicPr>
              <p:cNvPr id="28" name="Picture 27" descr="A picture containing accessory, case&#10;&#10;Description automatically generated">
                <a:extLst>
                  <a:ext uri="{FF2B5EF4-FFF2-40B4-BE49-F238E27FC236}">
                    <a16:creationId xmlns:a16="http://schemas.microsoft.com/office/drawing/2014/main" id="{F3AFCEF4-02F4-68E2-58D3-FA6DF16C6A2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596" t="19605" r="23335" b="19605"/>
              <a:stretch/>
            </p:blipFill>
            <p:spPr>
              <a:xfrm>
                <a:off x="8714827" y="1499630"/>
                <a:ext cx="660684" cy="818515"/>
              </a:xfrm>
              <a:prstGeom prst="rect">
                <a:avLst/>
              </a:prstGeom>
            </p:spPr>
          </p:pic>
          <p:cxnSp>
            <p:nvCxnSpPr>
              <p:cNvPr id="29" name="Connector: Curved 8">
                <a:extLst>
                  <a:ext uri="{FF2B5EF4-FFF2-40B4-BE49-F238E27FC236}">
                    <a16:creationId xmlns:a16="http://schemas.microsoft.com/office/drawing/2014/main" id="{658C904C-1C4A-D508-4279-05C4E6AF327E}"/>
                  </a:ext>
                </a:extLst>
              </p:cNvPr>
              <p:cNvCxnSpPr>
                <a:cxnSpLocks/>
                <a:stCxn id="28" idx="1"/>
              </p:cNvCxnSpPr>
              <p:nvPr/>
            </p:nvCxnSpPr>
            <p:spPr>
              <a:xfrm rot="10800000" flipV="1">
                <a:off x="8076269" y="1908888"/>
                <a:ext cx="638558" cy="1218772"/>
              </a:xfrm>
              <a:prstGeom prst="curvedConnector2">
                <a:avLst/>
              </a:prstGeom>
              <a:ln w="28575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9257201-C8C6-719D-66E2-F1B713F930D7}"/>
                </a:ext>
              </a:extLst>
            </p:cNvPr>
            <p:cNvSpPr txBox="1"/>
            <p:nvPr/>
          </p:nvSpPr>
          <p:spPr>
            <a:xfrm>
              <a:off x="8029132" y="971734"/>
              <a:ext cx="1908488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/>
                <a:t>Wireless Door Contact</a:t>
              </a:r>
            </a:p>
            <a:p>
              <a:endParaRPr lang="en-US" sz="1100" b="1" dirty="0"/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ZigBee Enabled </a:t>
              </a:r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Wireless Door Contact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A0823D1-5CEA-8C08-4413-66FDB35DA2FE}"/>
              </a:ext>
            </a:extLst>
          </p:cNvPr>
          <p:cNvGrpSpPr/>
          <p:nvPr/>
        </p:nvGrpSpPr>
        <p:grpSpPr>
          <a:xfrm>
            <a:off x="1268179" y="3608157"/>
            <a:ext cx="4576377" cy="2395163"/>
            <a:chOff x="1268179" y="3608157"/>
            <a:chExt cx="4576377" cy="2395163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8CAA9FF-A2FA-4CBC-02F9-A3543BCF1FAC}"/>
                </a:ext>
              </a:extLst>
            </p:cNvPr>
            <p:cNvGrpSpPr/>
            <p:nvPr/>
          </p:nvGrpSpPr>
          <p:grpSpPr>
            <a:xfrm>
              <a:off x="3151192" y="3608157"/>
              <a:ext cx="2693364" cy="1871995"/>
              <a:chOff x="3151192" y="3608157"/>
              <a:chExt cx="2693364" cy="1871995"/>
            </a:xfrm>
          </p:grpSpPr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59927FB1-3445-57C0-EABA-2EB1F44C92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51192" y="4748632"/>
                <a:ext cx="1003149" cy="731520"/>
              </a:xfrm>
              <a:prstGeom prst="rect">
                <a:avLst/>
              </a:prstGeom>
            </p:spPr>
          </p:pic>
          <p:cxnSp>
            <p:nvCxnSpPr>
              <p:cNvPr id="37" name="Connector: Curved 6">
                <a:extLst>
                  <a:ext uri="{FF2B5EF4-FFF2-40B4-BE49-F238E27FC236}">
                    <a16:creationId xmlns:a16="http://schemas.microsoft.com/office/drawing/2014/main" id="{5FC13301-2625-B83A-28FD-BD421EE8B5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75734" y="3608157"/>
                <a:ext cx="1868822" cy="1506235"/>
              </a:xfrm>
              <a:prstGeom prst="curvedConnector3">
                <a:avLst>
                  <a:gd name="adj1" fmla="val 43655"/>
                </a:avLst>
              </a:prstGeom>
              <a:ln w="28575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8273ED3-59B2-655C-BA92-9ECED158CA8C}"/>
                </a:ext>
              </a:extLst>
            </p:cNvPr>
            <p:cNvSpPr txBox="1"/>
            <p:nvPr/>
          </p:nvSpPr>
          <p:spPr>
            <a:xfrm>
              <a:off x="1268179" y="5064601"/>
              <a:ext cx="3490453" cy="9387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/>
                <a:t>Google Assistance Application</a:t>
              </a:r>
            </a:p>
            <a:p>
              <a:endParaRPr lang="en-US" sz="1100" b="1" dirty="0"/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Voice Enabled Check-In</a:t>
              </a:r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Voice Controlled Prompts For Resident Thermostat</a:t>
              </a:r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**Voice Controlled Prompts For Dedicated Lighting**  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51E66A1-12CE-DB31-70AC-37E915170A23}"/>
              </a:ext>
            </a:extLst>
          </p:cNvPr>
          <p:cNvGrpSpPr/>
          <p:nvPr/>
        </p:nvGrpSpPr>
        <p:grpSpPr>
          <a:xfrm>
            <a:off x="893406" y="940845"/>
            <a:ext cx="5907421" cy="2684651"/>
            <a:chOff x="893406" y="940845"/>
            <a:chExt cx="5907421" cy="2684651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D47ADFE-FD59-6988-E14A-33615A1A2DFF}"/>
                </a:ext>
              </a:extLst>
            </p:cNvPr>
            <p:cNvSpPr txBox="1"/>
            <p:nvPr/>
          </p:nvSpPr>
          <p:spPr>
            <a:xfrm>
              <a:off x="893406" y="1483069"/>
              <a:ext cx="2945169" cy="21236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/>
                <a:t>Managed Wi-Fi</a:t>
              </a:r>
            </a:p>
            <a:p>
              <a:endParaRPr lang="en-US" sz="1100" b="1" dirty="0"/>
            </a:p>
            <a:p>
              <a:r>
                <a:rPr lang="en-US" sz="1100" b="1" dirty="0"/>
                <a:t>Secondary Check In Options: Phase l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Occupancy Sensor via Thermostat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Additional Occupancy Notifications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Resident changing Temperature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Resident changing Fan Speed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Resident Turning On or Off Thermostat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Wireless Door Contact </a:t>
              </a:r>
            </a:p>
            <a:p>
              <a:endParaRPr lang="en-US" sz="1100" b="1" dirty="0"/>
            </a:p>
            <a:p>
              <a:r>
                <a:rPr lang="en-US" sz="1100" b="1" dirty="0"/>
                <a:t>Smart Service Applications: Phase </a:t>
              </a:r>
              <a:r>
                <a:rPr lang="en-US" sz="1100" b="1" dirty="0" err="1"/>
                <a:t>ll</a:t>
              </a:r>
              <a:endParaRPr lang="en-US" sz="1100" b="1" dirty="0"/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**Resident Check In Application**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F259E07-A276-530D-EDEE-636326DAABED}"/>
                </a:ext>
              </a:extLst>
            </p:cNvPr>
            <p:cNvGrpSpPr/>
            <p:nvPr/>
          </p:nvGrpSpPr>
          <p:grpSpPr>
            <a:xfrm>
              <a:off x="2842053" y="940845"/>
              <a:ext cx="3958774" cy="2684651"/>
              <a:chOff x="2842053" y="940845"/>
              <a:chExt cx="3958774" cy="2684651"/>
            </a:xfrm>
          </p:grpSpPr>
          <p:cxnSp>
            <p:nvCxnSpPr>
              <p:cNvPr id="43" name="Connector: Curved 5">
                <a:extLst>
                  <a:ext uri="{FF2B5EF4-FFF2-40B4-BE49-F238E27FC236}">
                    <a16:creationId xmlns:a16="http://schemas.microsoft.com/office/drawing/2014/main" id="{4EBB5898-48B2-BDEB-DA48-80531A0DB810}"/>
                  </a:ext>
                </a:extLst>
              </p:cNvPr>
              <p:cNvCxnSpPr/>
              <p:nvPr/>
            </p:nvCxnSpPr>
            <p:spPr>
              <a:xfrm>
                <a:off x="3838575" y="1483069"/>
                <a:ext cx="2962252" cy="2142427"/>
              </a:xfrm>
              <a:prstGeom prst="curvedConnector3">
                <a:avLst>
                  <a:gd name="adj1" fmla="val 46850"/>
                </a:avLst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4" name="Picture 43" descr="A picture containing diagram&#10;&#10;Description automatically generated">
                <a:extLst>
                  <a:ext uri="{FF2B5EF4-FFF2-40B4-BE49-F238E27FC236}">
                    <a16:creationId xmlns:a16="http://schemas.microsoft.com/office/drawing/2014/main" id="{B0BCA21A-A01B-3A7C-4CEE-78FA8A6D74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42053" y="940845"/>
                <a:ext cx="996521" cy="996521"/>
              </a:xfrm>
              <a:prstGeom prst="rect">
                <a:avLst/>
              </a:prstGeom>
            </p:spPr>
          </p:pic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763ED03-E3E9-8E0A-456A-321603A4A425}"/>
              </a:ext>
            </a:extLst>
          </p:cNvPr>
          <p:cNvGrpSpPr/>
          <p:nvPr/>
        </p:nvGrpSpPr>
        <p:grpSpPr>
          <a:xfrm>
            <a:off x="1043453" y="2845394"/>
            <a:ext cx="3601734" cy="2077848"/>
            <a:chOff x="710967" y="2914898"/>
            <a:chExt cx="3601734" cy="2077848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6E7485D-71F6-97E7-C044-80DE97C14193}"/>
                </a:ext>
              </a:extLst>
            </p:cNvPr>
            <p:cNvSpPr txBox="1"/>
            <p:nvPr/>
          </p:nvSpPr>
          <p:spPr>
            <a:xfrm>
              <a:off x="710967" y="3884750"/>
              <a:ext cx="2190618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/>
                <a:t>Safety Device Panic System</a:t>
              </a:r>
            </a:p>
            <a:p>
              <a:endParaRPr lang="en-US" sz="1100" b="1" dirty="0"/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Alerts</a:t>
              </a:r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Incident Records</a:t>
              </a:r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Updated Locations</a:t>
              </a:r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Location Specific</a:t>
              </a: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9C60595F-EB70-2F08-473E-2345A373A0ED}"/>
                </a:ext>
              </a:extLst>
            </p:cNvPr>
            <p:cNvGrpSpPr/>
            <p:nvPr/>
          </p:nvGrpSpPr>
          <p:grpSpPr>
            <a:xfrm>
              <a:off x="2718466" y="2914898"/>
              <a:ext cx="1594235" cy="1817982"/>
              <a:chOff x="2718466" y="2914898"/>
              <a:chExt cx="1594235" cy="1817982"/>
            </a:xfrm>
          </p:grpSpPr>
          <p:cxnSp>
            <p:nvCxnSpPr>
              <p:cNvPr id="48" name="Curved Connector 47">
                <a:extLst>
                  <a:ext uri="{FF2B5EF4-FFF2-40B4-BE49-F238E27FC236}">
                    <a16:creationId xmlns:a16="http://schemas.microsoft.com/office/drawing/2014/main" id="{00D49BD1-AA09-2D68-94F8-14BB1C71F3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68009" y="2914898"/>
                <a:ext cx="944692" cy="922619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chemeClr val="accent4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9" name="Picture 2" descr="TraknProtect">
                <a:extLst>
                  <a:ext uri="{FF2B5EF4-FFF2-40B4-BE49-F238E27FC236}">
                    <a16:creationId xmlns:a16="http://schemas.microsoft.com/office/drawing/2014/main" id="{E73DC430-D9F2-509D-8916-0B7CD08976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768357">
                <a:off x="2718466" y="3300535"/>
                <a:ext cx="646711" cy="143234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07CC916-F623-666C-AE74-4E9512976E8E}"/>
              </a:ext>
            </a:extLst>
          </p:cNvPr>
          <p:cNvGrpSpPr/>
          <p:nvPr/>
        </p:nvGrpSpPr>
        <p:grpSpPr>
          <a:xfrm>
            <a:off x="4910145" y="311411"/>
            <a:ext cx="3039962" cy="2463634"/>
            <a:chOff x="5183733" y="506969"/>
            <a:chExt cx="3039962" cy="2463634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34CBCF9A-928C-55C8-E218-DE45CD81528B}"/>
                </a:ext>
              </a:extLst>
            </p:cNvPr>
            <p:cNvGrpSpPr/>
            <p:nvPr/>
          </p:nvGrpSpPr>
          <p:grpSpPr>
            <a:xfrm>
              <a:off x="5183733" y="710026"/>
              <a:ext cx="1227539" cy="2260577"/>
              <a:chOff x="5183733" y="710026"/>
              <a:chExt cx="1227539" cy="2260577"/>
            </a:xfrm>
          </p:grpSpPr>
          <p:cxnSp>
            <p:nvCxnSpPr>
              <p:cNvPr id="56" name="Curved Connector 55">
                <a:extLst>
                  <a:ext uri="{FF2B5EF4-FFF2-40B4-BE49-F238E27FC236}">
                    <a16:creationId xmlns:a16="http://schemas.microsoft.com/office/drawing/2014/main" id="{FE2989AE-5064-BA64-A0AD-87D8B756C40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4952785" y="1512116"/>
                <a:ext cx="1974173" cy="942801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7" name="Picture 2" descr="184 Water Leak Detector Stock Photos, Pictures &amp; Royalty-Free Images -  iStock">
                <a:extLst>
                  <a:ext uri="{FF2B5EF4-FFF2-40B4-BE49-F238E27FC236}">
                    <a16:creationId xmlns:a16="http://schemas.microsoft.com/office/drawing/2014/main" id="{FA153D3E-D1E2-BE21-9E55-9B83FBDDBCD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417" t="22543" r="13138" b="23922"/>
              <a:stretch/>
            </p:blipFill>
            <p:spPr bwMode="auto">
              <a:xfrm>
                <a:off x="5183733" y="710026"/>
                <a:ext cx="878126" cy="6400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24595DA-7DD2-119F-07C1-8DB638E84744}"/>
                </a:ext>
              </a:extLst>
            </p:cNvPr>
            <p:cNvSpPr txBox="1"/>
            <p:nvPr/>
          </p:nvSpPr>
          <p:spPr>
            <a:xfrm>
              <a:off x="6033077" y="506969"/>
              <a:ext cx="2190618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/>
                <a:t>Leak Detection</a:t>
              </a:r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Alerts</a:t>
              </a:r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Incident Records</a:t>
              </a:r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Wi-Fi Connected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05AA5511-1806-8AB5-D3B5-06CC19855FF9}"/>
              </a:ext>
            </a:extLst>
          </p:cNvPr>
          <p:cNvGrpSpPr/>
          <p:nvPr/>
        </p:nvGrpSpPr>
        <p:grpSpPr>
          <a:xfrm>
            <a:off x="6938907" y="1374701"/>
            <a:ext cx="5131532" cy="1280096"/>
            <a:chOff x="6533001" y="1123682"/>
            <a:chExt cx="5131532" cy="1280096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1C269CE-3501-E9F2-1A35-D6A08F825C0D}"/>
                </a:ext>
              </a:extLst>
            </p:cNvPr>
            <p:cNvSpPr txBox="1"/>
            <p:nvPr/>
          </p:nvSpPr>
          <p:spPr>
            <a:xfrm>
              <a:off x="9473915" y="1526290"/>
              <a:ext cx="2190618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/>
                <a:t>Smart Door Lock</a:t>
              </a:r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Alerts</a:t>
              </a:r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App Based</a:t>
              </a:r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Wi-Fi – BLE - Zigbee</a:t>
              </a: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1D1539B1-5DD7-04E1-66BF-12121121E9DC}"/>
                </a:ext>
              </a:extLst>
            </p:cNvPr>
            <p:cNvGrpSpPr/>
            <p:nvPr/>
          </p:nvGrpSpPr>
          <p:grpSpPr>
            <a:xfrm>
              <a:off x="6533001" y="1123682"/>
              <a:ext cx="3125093" cy="1280096"/>
              <a:chOff x="6264059" y="1107086"/>
              <a:chExt cx="3125093" cy="1280096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11DAB57A-CADC-7D6A-5774-4BB725581FA0}"/>
                  </a:ext>
                </a:extLst>
              </p:cNvPr>
              <p:cNvGrpSpPr/>
              <p:nvPr/>
            </p:nvGrpSpPr>
            <p:grpSpPr>
              <a:xfrm>
                <a:off x="8667089" y="1107086"/>
                <a:ext cx="722063" cy="1280096"/>
                <a:chOff x="8725333" y="1551660"/>
                <a:chExt cx="1208764" cy="2435597"/>
              </a:xfrm>
            </p:grpSpPr>
            <p:pic>
              <p:nvPicPr>
                <p:cNvPr id="69" name="Picture 68">
                  <a:extLst>
                    <a:ext uri="{FF2B5EF4-FFF2-40B4-BE49-F238E27FC236}">
                      <a16:creationId xmlns:a16="http://schemas.microsoft.com/office/drawing/2014/main" id="{87F739E7-17B7-5134-A7AD-59CC46B39F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2"/>
                <a:srcRect l="43929" t="26429" r="41999" b="26387"/>
                <a:stretch/>
              </p:blipFill>
              <p:spPr>
                <a:xfrm>
                  <a:off x="8725333" y="1551660"/>
                  <a:ext cx="824754" cy="1690069"/>
                </a:xfrm>
                <a:prstGeom prst="rect">
                  <a:avLst/>
                </a:prstGeom>
              </p:spPr>
            </p:pic>
            <p:sp>
              <p:nvSpPr>
                <p:cNvPr id="70" name="Triangle 69">
                  <a:extLst>
                    <a:ext uri="{FF2B5EF4-FFF2-40B4-BE49-F238E27FC236}">
                      <a16:creationId xmlns:a16="http://schemas.microsoft.com/office/drawing/2014/main" id="{6EE64719-6966-29F9-2103-16AE01F2B216}"/>
                    </a:ext>
                  </a:extLst>
                </p:cNvPr>
                <p:cNvSpPr/>
                <p:nvPr/>
              </p:nvSpPr>
              <p:spPr>
                <a:xfrm rot="7788328">
                  <a:off x="9619638" y="3672797"/>
                  <a:ext cx="411152" cy="21776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68" name="Curved Connector 67">
                <a:extLst>
                  <a:ext uri="{FF2B5EF4-FFF2-40B4-BE49-F238E27FC236}">
                    <a16:creationId xmlns:a16="http://schemas.microsoft.com/office/drawing/2014/main" id="{BFE98803-843F-50CD-367D-0F56A038719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264059" y="1417755"/>
                <a:ext cx="2403032" cy="516816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9" name="Picture 10" descr="Image preview">
            <a:extLst>
              <a:ext uri="{FF2B5EF4-FFF2-40B4-BE49-F238E27FC236}">
                <a16:creationId xmlns:a16="http://schemas.microsoft.com/office/drawing/2014/main" id="{0E3C3A75-EDCC-F522-FA60-2DEA58692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7" y="5945746"/>
            <a:ext cx="2764728" cy="79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AC3F3EE-02D7-9D41-FE52-5A53A5A59ADB}"/>
              </a:ext>
            </a:extLst>
          </p:cNvPr>
          <p:cNvSpPr txBox="1"/>
          <p:nvPr/>
        </p:nvSpPr>
        <p:spPr>
          <a:xfrm>
            <a:off x="6666964" y="6417733"/>
            <a:ext cx="542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Interact Technologies - Confidential &amp; Proprietary - 2022</a:t>
            </a:r>
          </a:p>
        </p:txBody>
      </p:sp>
    </p:spTree>
    <p:extLst>
      <p:ext uri="{BB962C8B-B14F-4D97-AF65-F5344CB8AC3E}">
        <p14:creationId xmlns:p14="http://schemas.microsoft.com/office/powerpoint/2010/main" val="1094144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580">
        <p159:morph option="byChar"/>
      </p:transition>
    </mc:Choice>
    <mc:Fallback xmlns="">
      <p:transition spd="slow" advTm="2058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2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7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C94AA7-95A2-EB59-1CE6-3538AE54E6E1}"/>
              </a:ext>
            </a:extLst>
          </p:cNvPr>
          <p:cNvSpPr txBox="1"/>
          <p:nvPr/>
        </p:nvSpPr>
        <p:spPr>
          <a:xfrm>
            <a:off x="3048000" y="2136338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/>
              <a:t>Thank You </a:t>
            </a:r>
          </a:p>
          <a:p>
            <a:pPr algn="ctr"/>
            <a:r>
              <a:rPr lang="en-US" sz="5400" dirty="0"/>
              <a:t>For </a:t>
            </a:r>
          </a:p>
          <a:p>
            <a:pPr algn="ctr"/>
            <a:r>
              <a:rPr lang="en-US" sz="5400" dirty="0"/>
              <a:t>Watching</a:t>
            </a:r>
            <a:endParaRPr lang="en-US" sz="2400" dirty="0"/>
          </a:p>
        </p:txBody>
      </p:sp>
      <p:pic>
        <p:nvPicPr>
          <p:cNvPr id="2" name="Picture 10" descr="Image preview">
            <a:extLst>
              <a:ext uri="{FF2B5EF4-FFF2-40B4-BE49-F238E27FC236}">
                <a16:creationId xmlns:a16="http://schemas.microsoft.com/office/drawing/2014/main" id="{3762D7CD-A450-8F1A-6D43-C95D8CB3E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7" y="5945746"/>
            <a:ext cx="2764728" cy="79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F96915-3127-C3D2-C664-A8DCDBB2B19A}"/>
              </a:ext>
            </a:extLst>
          </p:cNvPr>
          <p:cNvSpPr txBox="1"/>
          <p:nvPr/>
        </p:nvSpPr>
        <p:spPr>
          <a:xfrm>
            <a:off x="6666964" y="6417733"/>
            <a:ext cx="542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Interact Technologies - Confidential &amp; Proprietary - 2022</a:t>
            </a:r>
          </a:p>
        </p:txBody>
      </p:sp>
    </p:spTree>
    <p:extLst>
      <p:ext uri="{BB962C8B-B14F-4D97-AF65-F5344CB8AC3E}">
        <p14:creationId xmlns:p14="http://schemas.microsoft.com/office/powerpoint/2010/main" val="2476015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4881">
        <p14:prism dir="u"/>
      </p:transition>
    </mc:Choice>
    <mc:Fallback xmlns="">
      <p:transition spd="slow" advTm="488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486</Words>
  <Application>Microsoft Office PowerPoint</Application>
  <PresentationFormat>Widescreen</PresentationFormat>
  <Paragraphs>144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Abadi MT Condensed Light</vt:lpstr>
      <vt:lpstr>Arial</vt:lpstr>
      <vt:lpstr>Calibri</vt:lpstr>
      <vt:lpstr>Calibri Light</vt:lpstr>
      <vt:lpstr>Myriad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Alice</dc:creator>
  <cp:lastModifiedBy>Charles Siemonsma</cp:lastModifiedBy>
  <cp:revision>3</cp:revision>
  <dcterms:created xsi:type="dcterms:W3CDTF">2022-10-19T20:45:04Z</dcterms:created>
  <dcterms:modified xsi:type="dcterms:W3CDTF">2022-10-19T22:20:18Z</dcterms:modified>
</cp:coreProperties>
</file>