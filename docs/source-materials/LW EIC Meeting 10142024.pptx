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002" r:id="rId3"/>
    <p:sldId id="2003" r:id="rId4"/>
    <p:sldId id="260" r:id="rId5"/>
    <p:sldId id="1997" r:id="rId6"/>
    <p:sldId id="20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0" autoAdjust="0"/>
    <p:restoredTop sz="95153"/>
  </p:normalViewPr>
  <p:slideViewPr>
    <p:cSldViewPr snapToGrid="0">
      <p:cViewPr varScale="1">
        <p:scale>
          <a:sx n="148" d="100"/>
          <a:sy n="148" d="100"/>
        </p:scale>
        <p:origin x="10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77B31-0D55-FF40-9576-101C79FFBE4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E3F77-5605-3D42-A657-1315E3D6F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2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29AE38-48F7-BA4B-A389-2341879A36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23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6893-832B-57E0-4E02-0E65069B6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DEDD1-CB97-BAB9-71B8-6CC2C33E2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CE99F-879F-FE10-0E4B-AE429B5D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EFEB-1F21-523D-13A9-A3AC3D96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B3818-C0DF-425D-3C53-E012A54D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579A-FD96-5D41-391E-2DC7F545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39780-87B6-E3C2-661F-39C96A586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E7644-52AA-0EDC-8A5B-B9516FEC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62391-EC19-9BFD-EEF9-6C2AE937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880CC-68B2-3704-AB94-F0B71C65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0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F808-A9D0-38F0-0741-6EF942C5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2629A-B76B-CE5D-5624-F771BF901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BE3C6-6EBE-98B3-5709-75D36D88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497CB-DCBA-4CF6-F3E6-07791191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FFC34-82A0-DC7B-1EC5-0CDD9E2E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6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3615-0EAE-3E9B-6DC6-AFAF590F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3791-8A43-D5F3-D8C5-41BB1F72C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80442-C353-D7D0-1A35-663C500B9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E5613-2038-514B-9617-21B869EF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F3577-97E4-799B-8331-39C7F6658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9EA41-A266-8E12-57BD-B6CAE9ED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7756-D5BC-9287-6C3D-42CDBF26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6D10F-B727-C674-DDD7-AF7A2167E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063CA-261F-F5BE-E658-215C7B9D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00793-17EB-1D33-EED7-CAB600B2C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61B83-24C4-0801-CFA8-C80A0D1B1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8A74F-9810-A657-95B3-3B888668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CFB85-E0E5-1118-E9BB-83C950BF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CA362E-9AB0-4CE3-2A6A-7C89BD69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9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EFDA-5671-526A-265D-C8E1AA2D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9DDB-BD08-8E4B-94D1-E7326E5D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142CD-45B7-FC8B-F5BF-26332226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872E3-09B4-A813-EF1D-4FC51AB6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4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36907-2EA9-FADB-D6C0-D6653CD6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158A8-A0A8-4FCF-DE34-E4E1FF29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A2FF9-EFB1-CD83-99B2-8DF9C9AB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4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A175-2C37-C270-35C6-D1D530BD8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FE8A5-3AF2-9A36-1B10-F3744E952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4BE7D-A458-6DC4-E461-2B720702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D8B06-B4EA-2E10-3D6C-2C5E1E8B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5F6C8-0976-42FB-ECCB-B715EDE4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7D28C-77B2-4F5A-E69B-ACF157EB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86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0C30-4988-A21C-CD11-C56F3E8F5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06C25-2982-8002-AD82-7AD2B32B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C789A-08FB-A729-72CC-2BC5129BE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2CDDC-D4D9-451B-8B7A-A7A0D728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F27FA-361B-7EA0-E04A-AB0890AA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42F2C-70C6-E769-A49C-5B331527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1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7870-E3B5-106A-EF65-4A1ECCAC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68439-E879-D1E4-AE00-461B3E944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1151A-7A15-6C29-696E-B7CBB7DA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7616-70DB-BE23-2026-02F0A9C9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C43F-AD29-570B-DF04-CCA6CD62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1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CD46D-2DBB-4687-BA5A-C20A34F38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F1DA2-7254-6722-04FC-0FEF8EA0D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09A68-1191-0FA6-950F-E5CD15F3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1D95-1DC7-178D-7841-4F8C3FE6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4ED1B-E7A2-7590-DD46-EC632E83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7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43E6F-2449-A056-BB8C-C094B438A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35B0-6F74-8B82-D60B-44F3BF141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8B75-4871-4C8E-0160-33ACDC895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D4744-174E-E945-B8AA-0DAA7E61FF9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2E3DD-E8A2-0605-2AB2-992D5AF54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8A5D5-DBD6-E1E3-E33F-F5329B59B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4079D-8418-6347-89F2-888C417C2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3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uilding, outdoor, apartment building, city&#10;&#10;Description automatically generated">
            <a:extLst>
              <a:ext uri="{FF2B5EF4-FFF2-40B4-BE49-F238E27FC236}">
                <a16:creationId xmlns:a16="http://schemas.microsoft.com/office/drawing/2014/main" id="{BE1F8764-8CA7-5791-8EB8-0A8EE8300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2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FF782B-E498-DD8E-BBF6-C0D3BFDACA79}"/>
              </a:ext>
            </a:extLst>
          </p:cNvPr>
          <p:cNvSpPr txBox="1"/>
          <p:nvPr/>
        </p:nvSpPr>
        <p:spPr>
          <a:xfrm>
            <a:off x="1005558" y="3522200"/>
            <a:ext cx="1119152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Emergency Information Council</a:t>
            </a:r>
          </a:p>
          <a:p>
            <a:r>
              <a:rPr lang="en-US" sz="3600" b="1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at Leisure World Seal Beach</a:t>
            </a:r>
          </a:p>
          <a:p>
            <a:r>
              <a:rPr lang="en-US" sz="3600" b="1" dirty="0">
                <a:solidFill>
                  <a:schemeClr val="bg1"/>
                </a:solidFill>
                <a:latin typeface="Abadi MT Condensed Light" panose="020B0306030101010103" pitchFamily="34" charset="77"/>
              </a:rPr>
              <a:t> Solving for emergency Resident communications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B5AA24-42D4-D647-72E2-87BBCDF9A52D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Interact Technologies - Confidential &amp; Proprietary - 2024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EA713362-4173-B53F-56F6-302DD3826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093" y="161087"/>
            <a:ext cx="2640655" cy="234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3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560">
        <p14:prism/>
      </p:transition>
    </mc:Choice>
    <mc:Fallback xmlns="">
      <p:transition spd="slow" advTm="35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EF560-A47B-81CB-F177-80FA17621DCB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 Technologies - Confidential &amp; Proprietary - 2024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994C5-FDFF-27DC-B84A-C05448ABFE46}"/>
              </a:ext>
            </a:extLst>
          </p:cNvPr>
          <p:cNvSpPr txBox="1"/>
          <p:nvPr/>
        </p:nvSpPr>
        <p:spPr>
          <a:xfrm>
            <a:off x="4184331" y="1299379"/>
            <a:ext cx="7502616" cy="4346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rgbClr val="212121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GB" sz="1600" b="1" dirty="0">
                <a:solidFill>
                  <a:srgbClr val="21212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imply put, you are on your own</a:t>
            </a:r>
            <a:endParaRPr lang="en-GB" sz="1800" b="0" i="0" u="none" strike="noStrike" dirty="0">
              <a:solidFill>
                <a:srgbClr val="212121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Power </a:t>
            </a:r>
            <a:r>
              <a:rPr lang="en-GB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is off</a:t>
            </a:r>
            <a:endParaRPr lang="en-GB" dirty="0">
              <a:solidFill>
                <a:srgbClr val="29324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Mobile phone towers are down</a:t>
            </a: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No Internet access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29324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r>
              <a:rPr lang="en-GB" sz="1600" b="1" dirty="0">
                <a:solidFill>
                  <a:srgbClr val="21212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reach someone, help?</a:t>
            </a: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There may be a few short-range Family Service Radios to contact the Leisure World Emergency Operations </a:t>
            </a:r>
            <a:r>
              <a:rPr lang="en-GB" dirty="0" err="1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Center</a:t>
            </a: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(EOC)</a:t>
            </a: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How will they find you and know your location?</a:t>
            </a: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If you are stuck inside and hurt – how will they know?</a:t>
            </a:r>
          </a:p>
          <a:p>
            <a:endParaRPr lang="en-US" dirty="0">
              <a:solidFill>
                <a:srgbClr val="29324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r>
              <a:rPr lang="en-US" sz="1600" b="1" dirty="0">
                <a:solidFill>
                  <a:srgbClr val="21212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we solve for this problem going 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Helvetica Neue Light" panose="02000403000000020004"/>
                <a:ea typeface="Helvetica Neue" panose="02000503000000020004" pitchFamily="2" charset="0"/>
                <a:cs typeface="Helvetica Neue" panose="02000503000000020004" pitchFamily="2" charset="0"/>
              </a:rPr>
              <a:t>It starts with implementing property-wide managed Internet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Helvetica Neue Light" panose="02000403000000020004"/>
                <a:ea typeface="Helvetica Neue" panose="02000503000000020004" pitchFamily="2" charset="0"/>
                <a:cs typeface="Helvetica Neue" panose="02000503000000020004" pitchFamily="2" charset="0"/>
              </a:rPr>
              <a:t>Insuring battery backup so Internet doesn’t fail when the power goes 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Helvetica Neue Light" panose="02000403000000020004"/>
                <a:ea typeface="Helvetica Neue" panose="02000503000000020004" pitchFamily="2" charset="0"/>
                <a:cs typeface="Helvetica Neue" panose="02000503000000020004" pitchFamily="2" charset="0"/>
              </a:rPr>
              <a:t>Creating redundancy so multiple communication paths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Helvetica Neue Light" panose="02000403000000020004"/>
                <a:ea typeface="Helvetica Neue" panose="02000503000000020004" pitchFamily="2" charset="0"/>
                <a:cs typeface="Helvetica Neue" panose="02000503000000020004" pitchFamily="2" charset="0"/>
              </a:rPr>
              <a:t>Downloading a free Leisure World Help Chat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12121"/>
              </a:solidFill>
              <a:latin typeface="Helvetica Neue Light" panose="020004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29324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AutoShape 2" descr="PacketFabric">
            <a:extLst>
              <a:ext uri="{FF2B5EF4-FFF2-40B4-BE49-F238E27FC236}">
                <a16:creationId xmlns:a16="http://schemas.microsoft.com/office/drawing/2014/main" id="{945E4654-D044-7041-C8EA-28707DA3A1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Google Shape;204;p2">
            <a:extLst>
              <a:ext uri="{FF2B5EF4-FFF2-40B4-BE49-F238E27FC236}">
                <a16:creationId xmlns:a16="http://schemas.microsoft.com/office/drawing/2014/main" id="{F77000DD-773D-49B6-D27F-2BA290C8C41E}"/>
              </a:ext>
            </a:extLst>
          </p:cNvPr>
          <p:cNvSpPr txBox="1"/>
          <p:nvPr/>
        </p:nvSpPr>
        <p:spPr>
          <a:xfrm>
            <a:off x="3858939" y="883752"/>
            <a:ext cx="8153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4000"/>
              <a:buFontTx/>
              <a:buNone/>
              <a:tabLst/>
              <a:defRPr/>
            </a:pPr>
            <a:r>
              <a:rPr lang="en-US" sz="2000" dirty="0">
                <a:latin typeface="Helvetica Neue Light"/>
                <a:sym typeface="Helvetica Neue Light"/>
              </a:rPr>
              <a:t>What happens if there is a disaster?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AF00AB-8F88-1F95-3F1B-A1777482E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98" y="0"/>
            <a:ext cx="3353091" cy="5663675"/>
          </a:xfrm>
          <a:prstGeom prst="rect">
            <a:avLst/>
          </a:prstGeom>
        </p:spPr>
      </p:pic>
      <p:sp>
        <p:nvSpPr>
          <p:cNvPr id="16" name="Google Shape;177;p2">
            <a:extLst>
              <a:ext uri="{FF2B5EF4-FFF2-40B4-BE49-F238E27FC236}">
                <a16:creationId xmlns:a16="http://schemas.microsoft.com/office/drawing/2014/main" id="{9488A84C-0531-0B38-92CC-8C100F13B34F}"/>
              </a:ext>
            </a:extLst>
          </p:cNvPr>
          <p:cNvSpPr txBox="1"/>
          <p:nvPr/>
        </p:nvSpPr>
        <p:spPr>
          <a:xfrm>
            <a:off x="543626" y="2593651"/>
            <a:ext cx="297752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bg1"/>
                </a:solidFill>
                <a:latin typeface="Helvetica Neue Light"/>
                <a:sym typeface="Helvetica Neue Light"/>
              </a:rPr>
              <a:t>mitigating the problem of disaster communication readiness</a:t>
            </a:r>
            <a:endParaRPr sz="1050" dirty="0">
              <a:solidFill>
                <a:srgbClr val="F98E1D"/>
              </a:solidFill>
            </a:endParaRPr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15950B6C-6A2D-B953-FB75-B93C13260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80" y="259246"/>
            <a:ext cx="2341673" cy="208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9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EA15CD-A798-E94F-C0BD-8271B3EE3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98" y="0"/>
            <a:ext cx="3353091" cy="5663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BEF560-A47B-81CB-F177-80FA17621DCB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 Technologies - Confidential &amp; Proprietary - 2024</a:t>
            </a:r>
          </a:p>
        </p:txBody>
      </p:sp>
      <p:sp>
        <p:nvSpPr>
          <p:cNvPr id="7" name="Google Shape;177;p2">
            <a:extLst>
              <a:ext uri="{FF2B5EF4-FFF2-40B4-BE49-F238E27FC236}">
                <a16:creationId xmlns:a16="http://schemas.microsoft.com/office/drawing/2014/main" id="{521D13BA-0251-4349-0265-D3AD744809D3}"/>
              </a:ext>
            </a:extLst>
          </p:cNvPr>
          <p:cNvSpPr txBox="1"/>
          <p:nvPr/>
        </p:nvSpPr>
        <p:spPr>
          <a:xfrm>
            <a:off x="543626" y="2593651"/>
            <a:ext cx="297752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bg1"/>
                </a:solidFill>
                <a:latin typeface="Helvetica Neue Light"/>
                <a:sym typeface="Helvetica Neue Light"/>
              </a:rPr>
              <a:t>mitigating the problem of disaster communication readiness</a:t>
            </a:r>
            <a:endParaRPr sz="1050" dirty="0">
              <a:solidFill>
                <a:srgbClr val="F98E1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994C5-FDFF-27DC-B84A-C05448ABFE46}"/>
              </a:ext>
            </a:extLst>
          </p:cNvPr>
          <p:cNvSpPr txBox="1"/>
          <p:nvPr/>
        </p:nvSpPr>
        <p:spPr>
          <a:xfrm>
            <a:off x="4184331" y="1299379"/>
            <a:ext cx="7502616" cy="4346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GB" sz="1600" b="1" i="0" u="none" strike="noStrike" dirty="0">
                <a:solidFill>
                  <a:srgbClr val="212121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Importance  of Managed Internet</a:t>
            </a:r>
            <a:endParaRPr lang="en-GB" sz="1800" b="0" i="0" u="none" strike="noStrike" dirty="0">
              <a:solidFill>
                <a:srgbClr val="212121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Deployment of enterprise Wi-Fi access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Allows for Cellular off-load of voice traffic – not cellular tower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Can connect IoT (Internet of Things) devices (i.e. fall down devices)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Resident can use wherever managed Internet is installed</a:t>
            </a:r>
          </a:p>
          <a:p>
            <a:endParaRPr lang="en-GB" sz="1600" b="1" dirty="0">
              <a:solidFill>
                <a:srgbClr val="21212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600" b="1" dirty="0">
                <a:solidFill>
                  <a:srgbClr val="21212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Importance of Redundancy and Battery Backup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Battery back-up ensures Internet works even when the power fails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Solar will recharge battery so Internet will work for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Redundant Internet circuits mean if one fails, you still have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9324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r>
              <a:rPr lang="en-US" sz="1600" b="1" dirty="0">
                <a:solidFill>
                  <a:srgbClr val="21212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Implementing the Leisure World Disaster Help Chat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Helvetica Neue Light" panose="02000403000000020004"/>
                <a:ea typeface="Helvetica Neue" panose="02000503000000020004" pitchFamily="2" charset="0"/>
                <a:cs typeface="Helvetica Neue" panose="02000503000000020004" pitchFamily="2" charset="0"/>
              </a:rPr>
              <a:t>Download the free Leisure World Help Chat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Helvetica Neue Light" panose="02000403000000020004"/>
                <a:ea typeface="Helvetica Neue" panose="02000503000000020004" pitchFamily="2" charset="0"/>
                <a:cs typeface="Helvetica Neue" panose="02000503000000020004" pitchFamily="2" charset="0"/>
              </a:rPr>
              <a:t>Text messages will be sent to the Leisure World EOC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9324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 the event all communications outside of Leisure World are lost, text communications via your phone or tablet can still get to help inside Leisure World </a:t>
            </a:r>
            <a:endParaRPr lang="en-GB" dirty="0">
              <a:solidFill>
                <a:srgbClr val="29324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AutoShape 2" descr="PacketFabric">
            <a:extLst>
              <a:ext uri="{FF2B5EF4-FFF2-40B4-BE49-F238E27FC236}">
                <a16:creationId xmlns:a16="http://schemas.microsoft.com/office/drawing/2014/main" id="{945E4654-D044-7041-C8EA-28707DA3A1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Google Shape;204;p2">
            <a:extLst>
              <a:ext uri="{FF2B5EF4-FFF2-40B4-BE49-F238E27FC236}">
                <a16:creationId xmlns:a16="http://schemas.microsoft.com/office/drawing/2014/main" id="{F77000DD-773D-49B6-D27F-2BA290C8C41E}"/>
              </a:ext>
            </a:extLst>
          </p:cNvPr>
          <p:cNvSpPr txBox="1"/>
          <p:nvPr/>
        </p:nvSpPr>
        <p:spPr>
          <a:xfrm>
            <a:off x="3858939" y="883752"/>
            <a:ext cx="8153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4000"/>
              <a:buFontTx/>
              <a:buNone/>
              <a:tabLst/>
              <a:defRPr/>
            </a:pPr>
            <a:r>
              <a:rPr lang="en-US" sz="2000" b="1" dirty="0">
                <a:solidFill>
                  <a:srgbClr val="293240"/>
                </a:solidFill>
                <a:latin typeface="Helvetica Neue Light"/>
                <a:sym typeface="Helvetica Neue Light"/>
              </a:rPr>
              <a:t>Leisure World Disaster Help Chat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293240"/>
              </a:solidFill>
              <a:effectLst/>
              <a:uLnTx/>
              <a:uFillTx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151229BB-2D52-A52A-F6D0-06B730B68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80" y="259246"/>
            <a:ext cx="2341673" cy="208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5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571912-7865-67C3-F199-591019262BF2}"/>
              </a:ext>
            </a:extLst>
          </p:cNvPr>
          <p:cNvSpPr txBox="1"/>
          <p:nvPr/>
        </p:nvSpPr>
        <p:spPr>
          <a:xfrm>
            <a:off x="6666964" y="6417733"/>
            <a:ext cx="5426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Interact Technologies - Confidential &amp; Proprietary - 2024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ACBAB44E-C309-2564-C17A-BE62C6DB13A9}"/>
              </a:ext>
            </a:extLst>
          </p:cNvPr>
          <p:cNvSpPr/>
          <p:nvPr/>
        </p:nvSpPr>
        <p:spPr>
          <a:xfrm>
            <a:off x="4389572" y="1299378"/>
            <a:ext cx="7142711" cy="50313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3900D4-D2BF-F6DC-F045-FEDF0084233F}"/>
              </a:ext>
            </a:extLst>
          </p:cNvPr>
          <p:cNvSpPr/>
          <p:nvPr/>
        </p:nvSpPr>
        <p:spPr>
          <a:xfrm rot="2219757">
            <a:off x="5313951" y="1545770"/>
            <a:ext cx="354634" cy="85805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8347C-3459-B68F-A794-59A940834FA2}"/>
              </a:ext>
            </a:extLst>
          </p:cNvPr>
          <p:cNvSpPr txBox="1"/>
          <p:nvPr/>
        </p:nvSpPr>
        <p:spPr>
          <a:xfrm>
            <a:off x="5019698" y="2540921"/>
            <a:ext cx="943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EOC at CH4</a:t>
            </a:r>
          </a:p>
        </p:txBody>
      </p:sp>
      <p:sp>
        <p:nvSpPr>
          <p:cNvPr id="13" name="Sun 12">
            <a:extLst>
              <a:ext uri="{FF2B5EF4-FFF2-40B4-BE49-F238E27FC236}">
                <a16:creationId xmlns:a16="http://schemas.microsoft.com/office/drawing/2014/main" id="{05C21D22-27E2-D35B-B684-6842135D2A58}"/>
              </a:ext>
            </a:extLst>
          </p:cNvPr>
          <p:cNvSpPr/>
          <p:nvPr/>
        </p:nvSpPr>
        <p:spPr>
          <a:xfrm>
            <a:off x="5653766" y="1624562"/>
            <a:ext cx="246130" cy="301258"/>
          </a:xfrm>
          <a:prstGeom prst="su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14" name="Sun 13">
            <a:extLst>
              <a:ext uri="{FF2B5EF4-FFF2-40B4-BE49-F238E27FC236}">
                <a16:creationId xmlns:a16="http://schemas.microsoft.com/office/drawing/2014/main" id="{12CAB962-A1C5-18AE-FB2F-5FAEB6D043DC}"/>
              </a:ext>
            </a:extLst>
          </p:cNvPr>
          <p:cNvSpPr/>
          <p:nvPr/>
        </p:nvSpPr>
        <p:spPr>
          <a:xfrm>
            <a:off x="5144613" y="5658858"/>
            <a:ext cx="246130" cy="301258"/>
          </a:xfrm>
          <a:prstGeom prst="su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99148-6795-B049-EC79-29380CCD1317}"/>
              </a:ext>
            </a:extLst>
          </p:cNvPr>
          <p:cNvSpPr txBox="1"/>
          <p:nvPr/>
        </p:nvSpPr>
        <p:spPr>
          <a:xfrm>
            <a:off x="5439179" y="5676822"/>
            <a:ext cx="1796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IS Access Points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F31073F3-E79E-991D-4A0D-E0800E38D258}"/>
              </a:ext>
            </a:extLst>
          </p:cNvPr>
          <p:cNvSpPr/>
          <p:nvPr/>
        </p:nvSpPr>
        <p:spPr>
          <a:xfrm rot="1920098">
            <a:off x="8798837" y="4058210"/>
            <a:ext cx="284721" cy="85805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8DC666-0B36-179E-0CB2-31E6A555F2C4}"/>
              </a:ext>
            </a:extLst>
          </p:cNvPr>
          <p:cNvSpPr txBox="1"/>
          <p:nvPr/>
        </p:nvSpPr>
        <p:spPr>
          <a:xfrm>
            <a:off x="8439932" y="4903097"/>
            <a:ext cx="1175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Cell Phone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55B318-503A-506D-1039-F42E3C4F96E1}"/>
              </a:ext>
            </a:extLst>
          </p:cNvPr>
          <p:cNvSpPr/>
          <p:nvPr/>
        </p:nvSpPr>
        <p:spPr>
          <a:xfrm>
            <a:off x="10258104" y="2757347"/>
            <a:ext cx="930411" cy="252290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19" name="Sun 18">
            <a:extLst>
              <a:ext uri="{FF2B5EF4-FFF2-40B4-BE49-F238E27FC236}">
                <a16:creationId xmlns:a16="http://schemas.microsoft.com/office/drawing/2014/main" id="{CC71F5DF-D04E-077E-8942-914AC0D80D98}"/>
              </a:ext>
            </a:extLst>
          </p:cNvPr>
          <p:cNvSpPr/>
          <p:nvPr/>
        </p:nvSpPr>
        <p:spPr>
          <a:xfrm>
            <a:off x="10295039" y="2941963"/>
            <a:ext cx="246130" cy="301258"/>
          </a:xfrm>
          <a:prstGeom prst="su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20" name="Sun 19">
            <a:extLst>
              <a:ext uri="{FF2B5EF4-FFF2-40B4-BE49-F238E27FC236}">
                <a16:creationId xmlns:a16="http://schemas.microsoft.com/office/drawing/2014/main" id="{6C91B040-60FA-F103-9E4D-C29EAC71B128}"/>
              </a:ext>
            </a:extLst>
          </p:cNvPr>
          <p:cNvSpPr/>
          <p:nvPr/>
        </p:nvSpPr>
        <p:spPr>
          <a:xfrm>
            <a:off x="10915028" y="3527220"/>
            <a:ext cx="246130" cy="301258"/>
          </a:xfrm>
          <a:prstGeom prst="su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21" name="Sun 20">
            <a:extLst>
              <a:ext uri="{FF2B5EF4-FFF2-40B4-BE49-F238E27FC236}">
                <a16:creationId xmlns:a16="http://schemas.microsoft.com/office/drawing/2014/main" id="{144E6677-C0CF-BF98-A135-0B54D897D354}"/>
              </a:ext>
            </a:extLst>
          </p:cNvPr>
          <p:cNvSpPr/>
          <p:nvPr/>
        </p:nvSpPr>
        <p:spPr>
          <a:xfrm>
            <a:off x="10295039" y="4062962"/>
            <a:ext cx="246130" cy="301258"/>
          </a:xfrm>
          <a:prstGeom prst="su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22" name="Sun 21">
            <a:extLst>
              <a:ext uri="{FF2B5EF4-FFF2-40B4-BE49-F238E27FC236}">
                <a16:creationId xmlns:a16="http://schemas.microsoft.com/office/drawing/2014/main" id="{F1192000-5F00-B2AE-E240-7326E76D7DA7}"/>
              </a:ext>
            </a:extLst>
          </p:cNvPr>
          <p:cNvSpPr/>
          <p:nvPr/>
        </p:nvSpPr>
        <p:spPr>
          <a:xfrm>
            <a:off x="10897611" y="4636903"/>
            <a:ext cx="246130" cy="301258"/>
          </a:xfrm>
          <a:prstGeom prst="su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D157DDB-9336-FD24-4E65-BC210135F8FA}"/>
              </a:ext>
            </a:extLst>
          </p:cNvPr>
          <p:cNvGrpSpPr/>
          <p:nvPr/>
        </p:nvGrpSpPr>
        <p:grpSpPr>
          <a:xfrm>
            <a:off x="8760411" y="2090898"/>
            <a:ext cx="771750" cy="858059"/>
            <a:chOff x="6983573" y="2161309"/>
            <a:chExt cx="963284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916363-ECA5-1961-525C-0528F6AE897C}"/>
                </a:ext>
              </a:extLst>
            </p:cNvPr>
            <p:cNvSpPr/>
            <p:nvPr/>
          </p:nvSpPr>
          <p:spPr>
            <a:xfrm>
              <a:off x="6996915" y="2161309"/>
              <a:ext cx="914400" cy="914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 Light" panose="020B060402020202020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77DD13-7C2F-4E63-2178-2CC06C4C9C71}"/>
                </a:ext>
              </a:extLst>
            </p:cNvPr>
            <p:cNvSpPr txBox="1"/>
            <p:nvPr/>
          </p:nvSpPr>
          <p:spPr>
            <a:xfrm>
              <a:off x="6983573" y="2313943"/>
              <a:ext cx="963284" cy="557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Helvetica Neue Light" panose="020B0604020202020204"/>
                </a:rPr>
                <a:t>Interact</a:t>
              </a:r>
            </a:p>
            <a:p>
              <a:pPr algn="ctr"/>
              <a:r>
                <a:rPr lang="en-US" sz="1400" dirty="0">
                  <a:latin typeface="Helvetica Neue Light" panose="020B0604020202020204"/>
                </a:rPr>
                <a:t>Server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9A668FA-0A2B-F5D2-EC1B-F122989C878A}"/>
              </a:ext>
            </a:extLst>
          </p:cNvPr>
          <p:cNvCxnSpPr>
            <a:cxnSpLocks/>
          </p:cNvCxnSpPr>
          <p:nvPr/>
        </p:nvCxnSpPr>
        <p:spPr>
          <a:xfrm>
            <a:off x="8624140" y="62127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30183F-4523-BE13-4361-A4CE6DFE70CE}"/>
              </a:ext>
            </a:extLst>
          </p:cNvPr>
          <p:cNvCxnSpPr>
            <a:cxnSpLocks/>
          </p:cNvCxnSpPr>
          <p:nvPr/>
        </p:nvCxnSpPr>
        <p:spPr>
          <a:xfrm flipH="1" flipV="1">
            <a:off x="9513158" y="2627488"/>
            <a:ext cx="173861" cy="28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7632A6-69C5-E427-2569-E85857BFF273}"/>
              </a:ext>
            </a:extLst>
          </p:cNvPr>
          <p:cNvCxnSpPr>
            <a:endCxn id="46" idx="0"/>
          </p:cNvCxnSpPr>
          <p:nvPr/>
        </p:nvCxnSpPr>
        <p:spPr>
          <a:xfrm flipH="1" flipV="1">
            <a:off x="7813806" y="1879120"/>
            <a:ext cx="888117" cy="4235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A321AD-7134-0BE5-B513-4E235C6FAF0B}"/>
              </a:ext>
            </a:extLst>
          </p:cNvPr>
          <p:cNvSpPr/>
          <p:nvPr/>
        </p:nvSpPr>
        <p:spPr>
          <a:xfrm>
            <a:off x="5161240" y="2022166"/>
            <a:ext cx="199796" cy="2187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31" name="Line Callout 1 (Border and Accent Bar) 31">
            <a:extLst>
              <a:ext uri="{FF2B5EF4-FFF2-40B4-BE49-F238E27FC236}">
                <a16:creationId xmlns:a16="http://schemas.microsoft.com/office/drawing/2014/main" id="{94473AF4-A2CB-F4D6-842A-3A486CAA8F6E}"/>
              </a:ext>
            </a:extLst>
          </p:cNvPr>
          <p:cNvSpPr/>
          <p:nvPr/>
        </p:nvSpPr>
        <p:spPr>
          <a:xfrm>
            <a:off x="9288102" y="3934359"/>
            <a:ext cx="244059" cy="232938"/>
          </a:xfrm>
          <a:prstGeom prst="accentBorderCallout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90938A-0CFB-262C-E3CA-00CCC1F55AA8}"/>
              </a:ext>
            </a:extLst>
          </p:cNvPr>
          <p:cNvSpPr txBox="1"/>
          <p:nvPr/>
        </p:nvSpPr>
        <p:spPr>
          <a:xfrm>
            <a:off x="9101797" y="3594017"/>
            <a:ext cx="557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Text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E65F22-F99B-72A4-7D66-AE9EAA02B0E9}"/>
              </a:ext>
            </a:extLst>
          </p:cNvPr>
          <p:cNvCxnSpPr>
            <a:cxnSpLocks/>
          </p:cNvCxnSpPr>
          <p:nvPr/>
        </p:nvCxnSpPr>
        <p:spPr>
          <a:xfrm>
            <a:off x="11746341" y="3065029"/>
            <a:ext cx="24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29C5E34-B33E-A631-1992-12D5F6C0B0DD}"/>
              </a:ext>
            </a:extLst>
          </p:cNvPr>
          <p:cNvSpPr txBox="1"/>
          <p:nvPr/>
        </p:nvSpPr>
        <p:spPr>
          <a:xfrm>
            <a:off x="9928557" y="1965026"/>
            <a:ext cx="1569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Mutual building with IS Service</a:t>
            </a:r>
          </a:p>
        </p:txBody>
      </p:sp>
      <p:sp>
        <p:nvSpPr>
          <p:cNvPr id="35" name="Can 37">
            <a:extLst>
              <a:ext uri="{FF2B5EF4-FFF2-40B4-BE49-F238E27FC236}">
                <a16:creationId xmlns:a16="http://schemas.microsoft.com/office/drawing/2014/main" id="{CB791535-738C-0B93-E5C2-E61E6B1DD972}"/>
              </a:ext>
            </a:extLst>
          </p:cNvPr>
          <p:cNvSpPr/>
          <p:nvPr/>
        </p:nvSpPr>
        <p:spPr>
          <a:xfrm>
            <a:off x="7610752" y="5697854"/>
            <a:ext cx="91573" cy="263269"/>
          </a:xfrm>
          <a:prstGeom prst="can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60107A-907A-6293-04C2-A72251609710}"/>
              </a:ext>
            </a:extLst>
          </p:cNvPr>
          <p:cNvSpPr txBox="1"/>
          <p:nvPr/>
        </p:nvSpPr>
        <p:spPr>
          <a:xfrm>
            <a:off x="7702325" y="5674374"/>
            <a:ext cx="165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Battery</a:t>
            </a:r>
          </a:p>
        </p:txBody>
      </p:sp>
      <p:sp>
        <p:nvSpPr>
          <p:cNvPr id="37" name="Can 39">
            <a:extLst>
              <a:ext uri="{FF2B5EF4-FFF2-40B4-BE49-F238E27FC236}">
                <a16:creationId xmlns:a16="http://schemas.microsoft.com/office/drawing/2014/main" id="{2B36D092-2B5D-6E7F-9EE1-4B19379CF9C7}"/>
              </a:ext>
            </a:extLst>
          </p:cNvPr>
          <p:cNvSpPr/>
          <p:nvPr/>
        </p:nvSpPr>
        <p:spPr>
          <a:xfrm>
            <a:off x="8771100" y="4564224"/>
            <a:ext cx="91573" cy="263269"/>
          </a:xfrm>
          <a:prstGeom prst="can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38" name="Can 40">
            <a:extLst>
              <a:ext uri="{FF2B5EF4-FFF2-40B4-BE49-F238E27FC236}">
                <a16:creationId xmlns:a16="http://schemas.microsoft.com/office/drawing/2014/main" id="{78F93E58-187A-3D8A-4649-17B7149FECA5}"/>
              </a:ext>
            </a:extLst>
          </p:cNvPr>
          <p:cNvSpPr/>
          <p:nvPr/>
        </p:nvSpPr>
        <p:spPr>
          <a:xfrm>
            <a:off x="10379873" y="4467581"/>
            <a:ext cx="91573" cy="263269"/>
          </a:xfrm>
          <a:prstGeom prst="can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39" name="Can 41">
            <a:extLst>
              <a:ext uri="{FF2B5EF4-FFF2-40B4-BE49-F238E27FC236}">
                <a16:creationId xmlns:a16="http://schemas.microsoft.com/office/drawing/2014/main" id="{1AF8F86F-E972-9D6F-733D-7C86451C5258}"/>
              </a:ext>
            </a:extLst>
          </p:cNvPr>
          <p:cNvSpPr/>
          <p:nvPr/>
        </p:nvSpPr>
        <p:spPr>
          <a:xfrm>
            <a:off x="9086860" y="2679103"/>
            <a:ext cx="91573" cy="263269"/>
          </a:xfrm>
          <a:prstGeom prst="can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BA9E276-C3AA-3081-97F7-847B66ABB0CF}"/>
              </a:ext>
            </a:extLst>
          </p:cNvPr>
          <p:cNvCxnSpPr>
            <a:cxnSpLocks/>
          </p:cNvCxnSpPr>
          <p:nvPr/>
        </p:nvCxnSpPr>
        <p:spPr>
          <a:xfrm flipH="1" flipV="1">
            <a:off x="10433775" y="3093092"/>
            <a:ext cx="115700" cy="35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940AC17-3A33-5552-FD1C-559371BEE5E6}"/>
              </a:ext>
            </a:extLst>
          </p:cNvPr>
          <p:cNvCxnSpPr>
            <a:cxnSpLocks/>
          </p:cNvCxnSpPr>
          <p:nvPr/>
        </p:nvCxnSpPr>
        <p:spPr>
          <a:xfrm flipV="1">
            <a:off x="10755911" y="3669267"/>
            <a:ext cx="242336" cy="177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55F567-03B8-859D-E760-07014054D93B}"/>
              </a:ext>
            </a:extLst>
          </p:cNvPr>
          <p:cNvCxnSpPr>
            <a:cxnSpLocks/>
          </p:cNvCxnSpPr>
          <p:nvPr/>
        </p:nvCxnSpPr>
        <p:spPr>
          <a:xfrm flipH="1" flipV="1">
            <a:off x="10425660" y="4239533"/>
            <a:ext cx="115700" cy="35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1524D32-0441-E349-D009-97F1327CC384}"/>
              </a:ext>
            </a:extLst>
          </p:cNvPr>
          <p:cNvCxnSpPr>
            <a:cxnSpLocks/>
          </p:cNvCxnSpPr>
          <p:nvPr/>
        </p:nvCxnSpPr>
        <p:spPr>
          <a:xfrm flipV="1">
            <a:off x="10429108" y="4019344"/>
            <a:ext cx="167408" cy="126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C10923B5-E0B7-C185-7348-8208E2884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73097">
            <a:off x="9067870" y="4228299"/>
            <a:ext cx="262934" cy="18890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2699B5F-0DCD-3C13-7DB7-7C9BA7FCC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73097" flipV="1">
            <a:off x="10025926" y="3968322"/>
            <a:ext cx="210254" cy="15105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5FC9149-3A66-0C79-5506-E92326BF264B}"/>
              </a:ext>
            </a:extLst>
          </p:cNvPr>
          <p:cNvSpPr/>
          <p:nvPr/>
        </p:nvSpPr>
        <p:spPr>
          <a:xfrm rot="5400000">
            <a:off x="7239826" y="1512827"/>
            <a:ext cx="415374" cy="7325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sp>
        <p:nvSpPr>
          <p:cNvPr id="47" name="Sun 46">
            <a:extLst>
              <a:ext uri="{FF2B5EF4-FFF2-40B4-BE49-F238E27FC236}">
                <a16:creationId xmlns:a16="http://schemas.microsoft.com/office/drawing/2014/main" id="{707169D1-D33A-BEA4-4280-42C0D2C9ABA1}"/>
              </a:ext>
            </a:extLst>
          </p:cNvPr>
          <p:cNvSpPr/>
          <p:nvPr/>
        </p:nvSpPr>
        <p:spPr>
          <a:xfrm>
            <a:off x="6940643" y="1681298"/>
            <a:ext cx="246130" cy="301258"/>
          </a:xfrm>
          <a:prstGeom prst="su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 Light" panose="020B0604020202020204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7E143F3-938A-1C22-EF9B-B85E4176B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73097">
            <a:off x="5770602" y="1654368"/>
            <a:ext cx="262934" cy="18890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6CB62A5-7DD1-776F-3814-B5EB5EB2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73097" flipV="1">
            <a:off x="6750624" y="1556633"/>
            <a:ext cx="210254" cy="15105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017DA7A-F88A-B901-1DDA-BF2423CF8E68}"/>
              </a:ext>
            </a:extLst>
          </p:cNvPr>
          <p:cNvSpPr txBox="1"/>
          <p:nvPr/>
        </p:nvSpPr>
        <p:spPr>
          <a:xfrm>
            <a:off x="7155690" y="1671886"/>
            <a:ext cx="888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Neue Light" panose="020B0604020202020204"/>
              </a:rPr>
              <a:t>CH4</a:t>
            </a:r>
          </a:p>
        </p:txBody>
      </p:sp>
      <p:sp>
        <p:nvSpPr>
          <p:cNvPr id="58" name="Google Shape;177;p2">
            <a:extLst>
              <a:ext uri="{FF2B5EF4-FFF2-40B4-BE49-F238E27FC236}">
                <a16:creationId xmlns:a16="http://schemas.microsoft.com/office/drawing/2014/main" id="{F09F5070-0930-40CE-529C-E98016CE2BB0}"/>
              </a:ext>
            </a:extLst>
          </p:cNvPr>
          <p:cNvSpPr txBox="1"/>
          <p:nvPr/>
        </p:nvSpPr>
        <p:spPr>
          <a:xfrm>
            <a:off x="439121" y="2581845"/>
            <a:ext cx="297752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bg1"/>
                </a:solidFill>
                <a:latin typeface="Helvetica Neue Light"/>
                <a:sym typeface="Helvetica Neue Light"/>
              </a:rPr>
              <a:t>mitigating the problem of disaster communication readiness</a:t>
            </a:r>
            <a:endParaRPr sz="1050" dirty="0">
              <a:solidFill>
                <a:srgbClr val="F98E1D"/>
              </a:solidFill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7937F21-1B8A-717A-51DA-D1EDAD1F2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8" y="0"/>
            <a:ext cx="3353091" cy="5663675"/>
          </a:xfrm>
          <a:prstGeom prst="rect">
            <a:avLst/>
          </a:prstGeom>
        </p:spPr>
      </p:pic>
      <p:pic>
        <p:nvPicPr>
          <p:cNvPr id="62" name="Picture 61" descr="Icon&#10;&#10;Description automatically generated">
            <a:extLst>
              <a:ext uri="{FF2B5EF4-FFF2-40B4-BE49-F238E27FC236}">
                <a16:creationId xmlns:a16="http://schemas.microsoft.com/office/drawing/2014/main" id="{99F82B87-F3A2-F099-EC47-92BA51324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80" y="259246"/>
            <a:ext cx="2341673" cy="208026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BDDFEBF-F3DB-88CA-ED9E-E6E0E2D284A9}"/>
              </a:ext>
            </a:extLst>
          </p:cNvPr>
          <p:cNvSpPr txBox="1"/>
          <p:nvPr/>
        </p:nvSpPr>
        <p:spPr>
          <a:xfrm>
            <a:off x="5891060" y="2575749"/>
            <a:ext cx="23416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Mutuals with Interact Internet Service provides those Residents (with the Help Chat app), the ability to text HELP messages to the EOC when there is no power or cell service.</a:t>
            </a:r>
          </a:p>
        </p:txBody>
      </p:sp>
      <p:sp>
        <p:nvSpPr>
          <p:cNvPr id="65" name="Google Shape;204;p2">
            <a:extLst>
              <a:ext uri="{FF2B5EF4-FFF2-40B4-BE49-F238E27FC236}">
                <a16:creationId xmlns:a16="http://schemas.microsoft.com/office/drawing/2014/main" id="{0FC615C3-CC9F-5FD2-D870-289799216B25}"/>
              </a:ext>
            </a:extLst>
          </p:cNvPr>
          <p:cNvSpPr txBox="1"/>
          <p:nvPr/>
        </p:nvSpPr>
        <p:spPr>
          <a:xfrm>
            <a:off x="3858939" y="883752"/>
            <a:ext cx="8153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4000"/>
              <a:buFontTx/>
              <a:buNone/>
              <a:tabLst/>
              <a:defRPr/>
            </a:pPr>
            <a:r>
              <a:rPr lang="en-US" sz="2000" b="1" dirty="0">
                <a:solidFill>
                  <a:srgbClr val="293240"/>
                </a:solidFill>
                <a:latin typeface="Helvetica Neue Light"/>
                <a:sym typeface="Helvetica Neue Light"/>
              </a:rPr>
              <a:t>Leisure World EOC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293240"/>
              </a:solidFill>
              <a:effectLst/>
              <a:uLnTx/>
              <a:uFillTx/>
            </a:endParaRPr>
          </a:p>
        </p:txBody>
      </p:sp>
      <p:sp>
        <p:nvSpPr>
          <p:cNvPr id="66" name="Google Shape;177;p2">
            <a:extLst>
              <a:ext uri="{FF2B5EF4-FFF2-40B4-BE49-F238E27FC236}">
                <a16:creationId xmlns:a16="http://schemas.microsoft.com/office/drawing/2014/main" id="{9860E5D5-410A-14FF-291A-C8D805FCB361}"/>
              </a:ext>
            </a:extLst>
          </p:cNvPr>
          <p:cNvSpPr txBox="1"/>
          <p:nvPr/>
        </p:nvSpPr>
        <p:spPr>
          <a:xfrm>
            <a:off x="543626" y="2593651"/>
            <a:ext cx="297752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bg1"/>
                </a:solidFill>
                <a:latin typeface="Helvetica Neue Light"/>
                <a:sym typeface="Helvetica Neue Light"/>
              </a:rPr>
              <a:t>mitigating the problem of disaster communication readiness</a:t>
            </a:r>
            <a:endParaRPr sz="1050" dirty="0">
              <a:solidFill>
                <a:srgbClr val="F98E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323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F28AB-5715-4C22-88B7-6B6B1780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31" y="1123682"/>
            <a:ext cx="4514850" cy="3671488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1882E5-9BBC-4C86-8A53-362BC73B602D}"/>
              </a:ext>
            </a:extLst>
          </p:cNvPr>
          <p:cNvSpPr txBox="1"/>
          <p:nvPr/>
        </p:nvSpPr>
        <p:spPr>
          <a:xfrm>
            <a:off x="6251292" y="4535262"/>
            <a:ext cx="21906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Smart Dimmer Switch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ZigBee Enabled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sz="1100" dirty="0"/>
              <a:t>Voice Control Via Google Assistant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941E30-5028-45F1-B4FF-D832E9055225}"/>
              </a:ext>
            </a:extLst>
          </p:cNvPr>
          <p:cNvGrpSpPr/>
          <p:nvPr/>
        </p:nvGrpSpPr>
        <p:grpSpPr>
          <a:xfrm>
            <a:off x="6251293" y="2902812"/>
            <a:ext cx="2448365" cy="1888910"/>
            <a:chOff x="5965371" y="2508074"/>
            <a:chExt cx="2448365" cy="1888910"/>
          </a:xfrm>
        </p:grpSpPr>
        <p:pic>
          <p:nvPicPr>
            <p:cNvPr id="12" name="Picture 2" descr="Wirecon White Decorator Wall Switch for Mobile Homes and RV's">
              <a:extLst>
                <a:ext uri="{FF2B5EF4-FFF2-40B4-BE49-F238E27FC236}">
                  <a16:creationId xmlns:a16="http://schemas.microsoft.com/office/drawing/2014/main" id="{A3D3E47F-727F-4F56-B178-77195B595A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55" t="3568" r="23297" b="3268"/>
            <a:stretch/>
          </p:blipFill>
          <p:spPr bwMode="auto">
            <a:xfrm>
              <a:off x="8054079" y="3701987"/>
              <a:ext cx="359657" cy="694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A8D44A0-3E39-4297-BB83-8B8BE4DA424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965371" y="2508074"/>
              <a:ext cx="2046344" cy="154141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Google Shape;404;p76">
            <a:extLst>
              <a:ext uri="{FF2B5EF4-FFF2-40B4-BE49-F238E27FC236}">
                <a16:creationId xmlns:a16="http://schemas.microsoft.com/office/drawing/2014/main" id="{582FBDAD-6D46-4F59-9BF6-52D595F03E52}"/>
              </a:ext>
            </a:extLst>
          </p:cNvPr>
          <p:cNvSpPr txBox="1"/>
          <p:nvPr/>
        </p:nvSpPr>
        <p:spPr>
          <a:xfrm>
            <a:off x="56308" y="23402"/>
            <a:ext cx="72883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Myriad Pro" panose="020B0503030403020204"/>
                <a:ea typeface="Google Sans"/>
                <a:cs typeface="Google Sans"/>
                <a:sym typeface="Google Sans"/>
              </a:rPr>
              <a:t>Leisure World Help Chat App:</a:t>
            </a:r>
            <a:endParaRPr sz="2800" dirty="0">
              <a:solidFill>
                <a:srgbClr val="222222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595959"/>
              </a:solidFill>
              <a:latin typeface="Myriad Pro" panose="020B0503030403020204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0CDC19-4023-A79C-44E3-51E6C16139F9}"/>
              </a:ext>
            </a:extLst>
          </p:cNvPr>
          <p:cNvGrpSpPr/>
          <p:nvPr/>
        </p:nvGrpSpPr>
        <p:grpSpPr>
          <a:xfrm>
            <a:off x="4956197" y="3996616"/>
            <a:ext cx="3056689" cy="2526308"/>
            <a:chOff x="5908763" y="3945436"/>
            <a:chExt cx="3056689" cy="25263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E8E3CD2-8259-2F25-EE01-86599482BF82}"/>
                </a:ext>
              </a:extLst>
            </p:cNvPr>
            <p:cNvGrpSpPr/>
            <p:nvPr/>
          </p:nvGrpSpPr>
          <p:grpSpPr>
            <a:xfrm>
              <a:off x="5908763" y="3945436"/>
              <a:ext cx="1311047" cy="2269329"/>
              <a:chOff x="6590080" y="3176424"/>
              <a:chExt cx="1311047" cy="2269329"/>
            </a:xfrm>
          </p:grpSpPr>
          <p:cxnSp>
            <p:nvCxnSpPr>
              <p:cNvPr id="3" name="Curved Connector 2">
                <a:extLst>
                  <a:ext uri="{FF2B5EF4-FFF2-40B4-BE49-F238E27FC236}">
                    <a16:creationId xmlns:a16="http://schemas.microsoft.com/office/drawing/2014/main" id="{C2348F58-803E-6AA1-5F23-43AE4C24AF2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691070" y="3216628"/>
                <a:ext cx="1250262" cy="1169853"/>
              </a:xfrm>
              <a:prstGeom prst="curvedConnector3">
                <a:avLst>
                  <a:gd name="adj1" fmla="val 28330"/>
                </a:avLst>
              </a:prstGeom>
              <a:ln w="31750" cmpd="sng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" name="Picture 2" descr="Device Setup">
                <a:extLst>
                  <a:ext uri="{FF2B5EF4-FFF2-40B4-BE49-F238E27FC236}">
                    <a16:creationId xmlns:a16="http://schemas.microsoft.com/office/drawing/2014/main" id="{C9A3CFCB-4B37-1DEA-E9B8-86E429C435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90080" y="4206617"/>
                <a:ext cx="1258928" cy="12391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50A757-EF32-4A0A-4F45-BAF7CE4A8EFB}"/>
                </a:ext>
              </a:extLst>
            </p:cNvPr>
            <p:cNvSpPr txBox="1"/>
            <p:nvPr/>
          </p:nvSpPr>
          <p:spPr>
            <a:xfrm>
              <a:off x="7129671" y="5533025"/>
              <a:ext cx="1835781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TV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LW Community Channel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Voice Enabled Remote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Emergency Alerts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LW Information Channel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43030A-7894-E28F-5EA1-5D40D4994566}"/>
              </a:ext>
            </a:extLst>
          </p:cNvPr>
          <p:cNvGrpSpPr/>
          <p:nvPr/>
        </p:nvGrpSpPr>
        <p:grpSpPr>
          <a:xfrm>
            <a:off x="7285330" y="2498842"/>
            <a:ext cx="4042751" cy="3440062"/>
            <a:chOff x="181944" y="2069792"/>
            <a:chExt cx="4042751" cy="344006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B5D32BB-3905-E950-9111-618FFA56EE37}"/>
                </a:ext>
              </a:extLst>
            </p:cNvPr>
            <p:cNvGrpSpPr/>
            <p:nvPr/>
          </p:nvGrpSpPr>
          <p:grpSpPr>
            <a:xfrm>
              <a:off x="181944" y="2069792"/>
              <a:ext cx="2088413" cy="1221980"/>
              <a:chOff x="7113030" y="2468344"/>
              <a:chExt cx="2088413" cy="1221980"/>
            </a:xfrm>
          </p:grpSpPr>
          <p:cxnSp>
            <p:nvCxnSpPr>
              <p:cNvPr id="18" name="Connector: Curved 5">
                <a:extLst>
                  <a:ext uri="{FF2B5EF4-FFF2-40B4-BE49-F238E27FC236}">
                    <a16:creationId xmlns:a16="http://schemas.microsoft.com/office/drawing/2014/main" id="{BFB1A9C6-0A92-F2BA-09F0-87839C83F89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113030" y="3227879"/>
                <a:ext cx="1595074" cy="261928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3F261B-EF49-FF0C-D34C-AC18548EE10A}"/>
                  </a:ext>
                </a:extLst>
              </p:cNvPr>
              <p:cNvGrpSpPr/>
              <p:nvPr/>
            </p:nvGrpSpPr>
            <p:grpSpPr>
              <a:xfrm>
                <a:off x="8713565" y="2468344"/>
                <a:ext cx="487878" cy="1221980"/>
                <a:chOff x="8713565" y="2468344"/>
                <a:chExt cx="487878" cy="1221980"/>
              </a:xfrm>
            </p:grpSpPr>
            <p:pic>
              <p:nvPicPr>
                <p:cNvPr id="20" name="Picture 10" descr="Ruckus H320 - wireless access point - Wi-Fi 5">
                  <a:extLst>
                    <a:ext uri="{FF2B5EF4-FFF2-40B4-BE49-F238E27FC236}">
                      <a16:creationId xmlns:a16="http://schemas.microsoft.com/office/drawing/2014/main" id="{0A7182BB-5300-779A-1382-4A15AA8990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770" r="33736" b="4825"/>
                <a:stretch/>
              </p:blipFill>
              <p:spPr bwMode="auto">
                <a:xfrm rot="45059">
                  <a:off x="8713565" y="2853861"/>
                  <a:ext cx="487878" cy="83646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0" descr="Icon&#10;&#10;Description automatically generated">
                  <a:extLst>
                    <a:ext uri="{FF2B5EF4-FFF2-40B4-BE49-F238E27FC236}">
                      <a16:creationId xmlns:a16="http://schemas.microsoft.com/office/drawing/2014/main" id="{B4D1160E-C56A-D16B-209C-CA20D9967A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58837" y="2468344"/>
                  <a:ext cx="397334" cy="346552"/>
                </a:xfrm>
                <a:prstGeom prst="rect">
                  <a:avLst/>
                </a:prstGeom>
              </p:spPr>
            </p:pic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0E2B0D-6410-3BEB-3833-6FC1B30BC64B}"/>
                </a:ext>
              </a:extLst>
            </p:cNvPr>
            <p:cNvSpPr txBox="1"/>
            <p:nvPr/>
          </p:nvSpPr>
          <p:spPr>
            <a:xfrm>
              <a:off x="1884533" y="3386196"/>
              <a:ext cx="2340162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Community Managed Wi-Fi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Internet can now be used as a disaster communication resource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Ancillary benefits allowing Smart Building and IoT technology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Help and Chat availability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Door Locks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Smart Thermostats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Voice Controls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Leak Detection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Resident Safety Devices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endParaRPr lang="en-US" sz="11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313BDDC-2E5E-BC30-D9A0-FB6C02C02EAF}"/>
              </a:ext>
            </a:extLst>
          </p:cNvPr>
          <p:cNvGrpSpPr/>
          <p:nvPr/>
        </p:nvGrpSpPr>
        <p:grpSpPr>
          <a:xfrm>
            <a:off x="6854798" y="243498"/>
            <a:ext cx="3411477" cy="1628030"/>
            <a:chOff x="6526143" y="750693"/>
            <a:chExt cx="3411477" cy="16280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CBADF48-714D-9C8B-00E9-5EE2468E5B4C}"/>
                </a:ext>
              </a:extLst>
            </p:cNvPr>
            <p:cNvGrpSpPr/>
            <p:nvPr/>
          </p:nvGrpSpPr>
          <p:grpSpPr>
            <a:xfrm>
              <a:off x="6526143" y="750693"/>
              <a:ext cx="1299242" cy="1628030"/>
              <a:chOff x="8076269" y="1499630"/>
              <a:chExt cx="1299242" cy="1628030"/>
            </a:xfrm>
          </p:grpSpPr>
          <p:pic>
            <p:nvPicPr>
              <p:cNvPr id="28" name="Picture 27" descr="A picture containing accessory, case&#10;&#10;Description automatically generated">
                <a:extLst>
                  <a:ext uri="{FF2B5EF4-FFF2-40B4-BE49-F238E27FC236}">
                    <a16:creationId xmlns:a16="http://schemas.microsoft.com/office/drawing/2014/main" id="{F3AFCEF4-02F4-68E2-58D3-FA6DF16C6A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596" t="19605" r="23335" b="19605"/>
              <a:stretch/>
            </p:blipFill>
            <p:spPr>
              <a:xfrm>
                <a:off x="8714827" y="1499630"/>
                <a:ext cx="660684" cy="818515"/>
              </a:xfrm>
              <a:prstGeom prst="rect">
                <a:avLst/>
              </a:prstGeom>
            </p:spPr>
          </p:pic>
          <p:cxnSp>
            <p:nvCxnSpPr>
              <p:cNvPr id="29" name="Connector: Curved 8">
                <a:extLst>
                  <a:ext uri="{FF2B5EF4-FFF2-40B4-BE49-F238E27FC236}">
                    <a16:creationId xmlns:a16="http://schemas.microsoft.com/office/drawing/2014/main" id="{658C904C-1C4A-D508-4279-05C4E6AF327E}"/>
                  </a:ext>
                </a:extLst>
              </p:cNvPr>
              <p:cNvCxnSpPr>
                <a:cxnSpLocks/>
                <a:stCxn id="28" idx="1"/>
              </p:cNvCxnSpPr>
              <p:nvPr/>
            </p:nvCxnSpPr>
            <p:spPr>
              <a:xfrm rot="10800000" flipV="1">
                <a:off x="8076269" y="1908888"/>
                <a:ext cx="638558" cy="1218772"/>
              </a:xfrm>
              <a:prstGeom prst="curvedConnector2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257201-C8C6-719D-66E2-F1B713F930D7}"/>
                </a:ext>
              </a:extLst>
            </p:cNvPr>
            <p:cNvSpPr txBox="1"/>
            <p:nvPr/>
          </p:nvSpPr>
          <p:spPr>
            <a:xfrm>
              <a:off x="8029132" y="971734"/>
              <a:ext cx="1908488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Wireless Door Contact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ZigBee Enabled 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Wireless Door Contact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0823D1-5CEA-8C08-4413-66FDB35DA2FE}"/>
              </a:ext>
            </a:extLst>
          </p:cNvPr>
          <p:cNvGrpSpPr/>
          <p:nvPr/>
        </p:nvGrpSpPr>
        <p:grpSpPr>
          <a:xfrm>
            <a:off x="892652" y="3608157"/>
            <a:ext cx="4951904" cy="2081266"/>
            <a:chOff x="892652" y="3608157"/>
            <a:chExt cx="4951904" cy="208126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8CAA9FF-A2FA-4CBC-02F9-A3543BCF1FAC}"/>
                </a:ext>
              </a:extLst>
            </p:cNvPr>
            <p:cNvGrpSpPr/>
            <p:nvPr/>
          </p:nvGrpSpPr>
          <p:grpSpPr>
            <a:xfrm>
              <a:off x="3151192" y="3608157"/>
              <a:ext cx="2693364" cy="1871995"/>
              <a:chOff x="3151192" y="3608157"/>
              <a:chExt cx="2693364" cy="1871995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59927FB1-3445-57C0-EABA-2EB1F44C9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51192" y="4748632"/>
                <a:ext cx="1003149" cy="731520"/>
              </a:xfrm>
              <a:prstGeom prst="rect">
                <a:avLst/>
              </a:prstGeom>
            </p:spPr>
          </p:pic>
          <p:cxnSp>
            <p:nvCxnSpPr>
              <p:cNvPr id="37" name="Connector: Curved 6">
                <a:extLst>
                  <a:ext uri="{FF2B5EF4-FFF2-40B4-BE49-F238E27FC236}">
                    <a16:creationId xmlns:a16="http://schemas.microsoft.com/office/drawing/2014/main" id="{5FC13301-2625-B83A-28FD-BD421EE8B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5734" y="3608157"/>
                <a:ext cx="1868822" cy="1506235"/>
              </a:xfrm>
              <a:prstGeom prst="curvedConnector3">
                <a:avLst>
                  <a:gd name="adj1" fmla="val 43655"/>
                </a:avLst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273ED3-59B2-655C-BA92-9ECED158CA8C}"/>
                </a:ext>
              </a:extLst>
            </p:cNvPr>
            <p:cNvSpPr txBox="1"/>
            <p:nvPr/>
          </p:nvSpPr>
          <p:spPr>
            <a:xfrm>
              <a:off x="892652" y="4919982"/>
              <a:ext cx="349045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Google Assistance App – Phase </a:t>
              </a:r>
              <a:r>
                <a:rPr lang="en-US" sz="1100" b="1" dirty="0" err="1"/>
                <a:t>ll</a:t>
              </a:r>
              <a:endParaRPr lang="en-US" sz="11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Voice Enabled Commands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Voice Controlled Prompts For Resident devices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 err="1"/>
                <a:t>Ie</a:t>
              </a:r>
              <a:r>
                <a:rPr lang="en-US" sz="1100" dirty="0"/>
                <a:t>. Emergencies, Control Smart Devices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1E66A1-12CE-DB31-70AC-37E915170A23}"/>
              </a:ext>
            </a:extLst>
          </p:cNvPr>
          <p:cNvGrpSpPr/>
          <p:nvPr/>
        </p:nvGrpSpPr>
        <p:grpSpPr>
          <a:xfrm>
            <a:off x="884806" y="662143"/>
            <a:ext cx="5916021" cy="2963353"/>
            <a:chOff x="884806" y="662143"/>
            <a:chExt cx="5916021" cy="296335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47ADFE-FD59-6988-E14A-33615A1A2DFF}"/>
                </a:ext>
              </a:extLst>
            </p:cNvPr>
            <p:cNvSpPr txBox="1"/>
            <p:nvPr/>
          </p:nvSpPr>
          <p:spPr>
            <a:xfrm>
              <a:off x="884806" y="1265003"/>
              <a:ext cx="2945169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Managed Wi-Fi Devices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LW Disaster Help Chat App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Motion Sensor via Thermostat (optional)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Fall-down Device Sensor (optional)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Resident Thermostat Control (optional)</a:t>
              </a:r>
              <a:endParaRPr lang="en-US" sz="1100" b="1" dirty="0"/>
            </a:p>
            <a:p>
              <a:endParaRPr lang="en-US" sz="1100" b="1" dirty="0"/>
            </a:p>
            <a:p>
              <a:endParaRPr lang="en-US" sz="1100" b="1" dirty="0"/>
            </a:p>
            <a:p>
              <a:r>
                <a:rPr lang="en-US" sz="1100" b="1" dirty="0"/>
                <a:t>Secondary Device Options: Phase II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Additional Occupancy Notifications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Resident Thermostat Control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Connected Music Speakers (</a:t>
              </a:r>
              <a:r>
                <a:rPr lang="en-US" sz="1100" dirty="0" err="1"/>
                <a:t>Ie</a:t>
              </a:r>
              <a:r>
                <a:rPr lang="en-US" sz="1100" dirty="0"/>
                <a:t>. Sonos)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F259E07-A276-530D-EDEE-636326DAABED}"/>
                </a:ext>
              </a:extLst>
            </p:cNvPr>
            <p:cNvGrpSpPr/>
            <p:nvPr/>
          </p:nvGrpSpPr>
          <p:grpSpPr>
            <a:xfrm>
              <a:off x="2842053" y="662143"/>
              <a:ext cx="3958774" cy="2963353"/>
              <a:chOff x="2842053" y="662143"/>
              <a:chExt cx="3958774" cy="2963353"/>
            </a:xfrm>
          </p:grpSpPr>
          <p:cxnSp>
            <p:nvCxnSpPr>
              <p:cNvPr id="43" name="Connector: Curved 5">
                <a:extLst>
                  <a:ext uri="{FF2B5EF4-FFF2-40B4-BE49-F238E27FC236}">
                    <a16:creationId xmlns:a16="http://schemas.microsoft.com/office/drawing/2014/main" id="{4EBB5898-48B2-BDEB-DA48-80531A0DB810}"/>
                  </a:ext>
                </a:extLst>
              </p:cNvPr>
              <p:cNvCxnSpPr/>
              <p:nvPr/>
            </p:nvCxnSpPr>
            <p:spPr>
              <a:xfrm>
                <a:off x="3838575" y="1483069"/>
                <a:ext cx="2962252" cy="2142427"/>
              </a:xfrm>
              <a:prstGeom prst="curvedConnector3">
                <a:avLst>
                  <a:gd name="adj1" fmla="val 46850"/>
                </a:avLst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4" name="Picture 43" descr="A picture containing diagram&#10;&#10;Description automatically generated">
                <a:extLst>
                  <a:ext uri="{FF2B5EF4-FFF2-40B4-BE49-F238E27FC236}">
                    <a16:creationId xmlns:a16="http://schemas.microsoft.com/office/drawing/2014/main" id="{B0BCA21A-A01B-3A7C-4CEE-78FA8A6D74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42053" y="662143"/>
                <a:ext cx="996521" cy="996521"/>
              </a:xfrm>
              <a:prstGeom prst="rect">
                <a:avLst/>
              </a:prstGeom>
            </p:spPr>
          </p:pic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63ED03-E3E9-8E0A-456A-321603A4A425}"/>
              </a:ext>
            </a:extLst>
          </p:cNvPr>
          <p:cNvGrpSpPr/>
          <p:nvPr/>
        </p:nvGrpSpPr>
        <p:grpSpPr>
          <a:xfrm>
            <a:off x="892652" y="2845394"/>
            <a:ext cx="3752535" cy="1775073"/>
            <a:chOff x="560166" y="2914898"/>
            <a:chExt cx="3752535" cy="177507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6E7485D-71F6-97E7-C044-80DE97C14193}"/>
                </a:ext>
              </a:extLst>
            </p:cNvPr>
            <p:cNvSpPr txBox="1"/>
            <p:nvPr/>
          </p:nvSpPr>
          <p:spPr>
            <a:xfrm>
              <a:off x="560166" y="3581975"/>
              <a:ext cx="2372136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Safety Device Systems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Emergency Alerts (</a:t>
              </a:r>
              <a:r>
                <a:rPr lang="en-US" sz="1100" dirty="0" err="1"/>
                <a:t>ie</a:t>
              </a:r>
              <a:r>
                <a:rPr lang="en-US" sz="1100" dirty="0"/>
                <a:t>. Fall Down)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Incident Records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Locations Specific (geo-location)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Works anywhere Managed Internet is installed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C60595F-EB70-2F08-473E-2345A373A0ED}"/>
                </a:ext>
              </a:extLst>
            </p:cNvPr>
            <p:cNvGrpSpPr/>
            <p:nvPr/>
          </p:nvGrpSpPr>
          <p:grpSpPr>
            <a:xfrm>
              <a:off x="3094686" y="2914898"/>
              <a:ext cx="1218015" cy="1731356"/>
              <a:chOff x="3094686" y="2914898"/>
              <a:chExt cx="1218015" cy="1731356"/>
            </a:xfrm>
          </p:grpSpPr>
          <p:cxnSp>
            <p:nvCxnSpPr>
              <p:cNvPr id="48" name="Curved Connector 47">
                <a:extLst>
                  <a:ext uri="{FF2B5EF4-FFF2-40B4-BE49-F238E27FC236}">
                    <a16:creationId xmlns:a16="http://schemas.microsoft.com/office/drawing/2014/main" id="{00D49BD1-AA09-2D68-94F8-14BB1C71F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8009" y="2914898"/>
                <a:ext cx="944692" cy="922619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chemeClr val="accent4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9" name="Picture 2" descr="TraknProtect">
                <a:extLst>
                  <a:ext uri="{FF2B5EF4-FFF2-40B4-BE49-F238E27FC236}">
                    <a16:creationId xmlns:a16="http://schemas.microsoft.com/office/drawing/2014/main" id="{E73DC430-D9F2-509D-8916-0B7CD0897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768357">
                <a:off x="3094686" y="3213909"/>
                <a:ext cx="646711" cy="14323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07CC916-F623-666C-AE74-4E9512976E8E}"/>
              </a:ext>
            </a:extLst>
          </p:cNvPr>
          <p:cNvGrpSpPr/>
          <p:nvPr/>
        </p:nvGrpSpPr>
        <p:grpSpPr>
          <a:xfrm>
            <a:off x="4910145" y="311411"/>
            <a:ext cx="3039962" cy="2463634"/>
            <a:chOff x="5183733" y="506969"/>
            <a:chExt cx="3039962" cy="246363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4CBCF9A-928C-55C8-E218-DE45CD81528B}"/>
                </a:ext>
              </a:extLst>
            </p:cNvPr>
            <p:cNvGrpSpPr/>
            <p:nvPr/>
          </p:nvGrpSpPr>
          <p:grpSpPr>
            <a:xfrm>
              <a:off x="5183733" y="710026"/>
              <a:ext cx="1227539" cy="2260577"/>
              <a:chOff x="5183733" y="710026"/>
              <a:chExt cx="1227539" cy="2260577"/>
            </a:xfrm>
          </p:grpSpPr>
          <p:cxnSp>
            <p:nvCxnSpPr>
              <p:cNvPr id="56" name="Curved Connector 55">
                <a:extLst>
                  <a:ext uri="{FF2B5EF4-FFF2-40B4-BE49-F238E27FC236}">
                    <a16:creationId xmlns:a16="http://schemas.microsoft.com/office/drawing/2014/main" id="{FE2989AE-5064-BA64-A0AD-87D8B756C40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952785" y="1512116"/>
                <a:ext cx="1974173" cy="942801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7" name="Picture 2" descr="184 Water Leak Detector Stock Photos, Pictures &amp; Royalty-Free Images -  iStock">
                <a:extLst>
                  <a:ext uri="{FF2B5EF4-FFF2-40B4-BE49-F238E27FC236}">
                    <a16:creationId xmlns:a16="http://schemas.microsoft.com/office/drawing/2014/main" id="{FA153D3E-D1E2-BE21-9E55-9B83FBDDBC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17" t="22543" r="13138" b="23922"/>
              <a:stretch/>
            </p:blipFill>
            <p:spPr bwMode="auto">
              <a:xfrm>
                <a:off x="5183733" y="710026"/>
                <a:ext cx="878126" cy="640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24595DA-7DD2-119F-07C1-8DB638E84744}"/>
                </a:ext>
              </a:extLst>
            </p:cNvPr>
            <p:cNvSpPr txBox="1"/>
            <p:nvPr/>
          </p:nvSpPr>
          <p:spPr>
            <a:xfrm>
              <a:off x="6033077" y="506969"/>
              <a:ext cx="219061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Leak Detection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Alerts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Incident Records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Wi-Fi Connected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5AA5511-1806-8AB5-D3B5-06CC19855FF9}"/>
              </a:ext>
            </a:extLst>
          </p:cNvPr>
          <p:cNvGrpSpPr/>
          <p:nvPr/>
        </p:nvGrpSpPr>
        <p:grpSpPr>
          <a:xfrm>
            <a:off x="6938907" y="1374701"/>
            <a:ext cx="5131532" cy="1280096"/>
            <a:chOff x="6533001" y="1123682"/>
            <a:chExt cx="5131532" cy="128009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C269CE-3501-E9F2-1A35-D6A08F825C0D}"/>
                </a:ext>
              </a:extLst>
            </p:cNvPr>
            <p:cNvSpPr txBox="1"/>
            <p:nvPr/>
          </p:nvSpPr>
          <p:spPr>
            <a:xfrm>
              <a:off x="9473915" y="1526290"/>
              <a:ext cx="219061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Smart Door Lock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Alerts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App Based</a:t>
              </a:r>
            </a:p>
            <a:p>
              <a:pPr marL="182880" indent="-182880">
                <a:buFont typeface="Arial" panose="020B0604020202020204" pitchFamily="34" charset="0"/>
                <a:buChar char="•"/>
              </a:pPr>
              <a:r>
                <a:rPr lang="en-US" sz="1100" dirty="0"/>
                <a:t>Wi-Fi – BLE - Zigbee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D1539B1-5DD7-04E1-66BF-12121121E9DC}"/>
                </a:ext>
              </a:extLst>
            </p:cNvPr>
            <p:cNvGrpSpPr/>
            <p:nvPr/>
          </p:nvGrpSpPr>
          <p:grpSpPr>
            <a:xfrm>
              <a:off x="6533001" y="1123682"/>
              <a:ext cx="3125093" cy="1280096"/>
              <a:chOff x="6264059" y="1107086"/>
              <a:chExt cx="3125093" cy="128009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1DAB57A-CADC-7D6A-5774-4BB725581FA0}"/>
                  </a:ext>
                </a:extLst>
              </p:cNvPr>
              <p:cNvGrpSpPr/>
              <p:nvPr/>
            </p:nvGrpSpPr>
            <p:grpSpPr>
              <a:xfrm>
                <a:off x="8667089" y="1107086"/>
                <a:ext cx="722063" cy="1280096"/>
                <a:chOff x="8725333" y="1551660"/>
                <a:chExt cx="1208764" cy="2435597"/>
              </a:xfrm>
            </p:grpSpPr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87F739E7-17B7-5134-A7AD-59CC46B39F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/>
                <a:srcRect l="43929" t="26429" r="41999" b="26387"/>
                <a:stretch/>
              </p:blipFill>
              <p:spPr>
                <a:xfrm>
                  <a:off x="8725333" y="1551660"/>
                  <a:ext cx="824754" cy="1690069"/>
                </a:xfrm>
                <a:prstGeom prst="rect">
                  <a:avLst/>
                </a:prstGeom>
              </p:spPr>
            </p:pic>
            <p:sp>
              <p:nvSpPr>
                <p:cNvPr id="70" name="Triangle 69">
                  <a:extLst>
                    <a:ext uri="{FF2B5EF4-FFF2-40B4-BE49-F238E27FC236}">
                      <a16:creationId xmlns:a16="http://schemas.microsoft.com/office/drawing/2014/main" id="{6EE64719-6966-29F9-2103-16AE01F2B216}"/>
                    </a:ext>
                  </a:extLst>
                </p:cNvPr>
                <p:cNvSpPr/>
                <p:nvPr/>
              </p:nvSpPr>
              <p:spPr>
                <a:xfrm rot="7788328">
                  <a:off x="9619638" y="3672797"/>
                  <a:ext cx="411152" cy="21776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8" name="Curved Connector 67">
                <a:extLst>
                  <a:ext uri="{FF2B5EF4-FFF2-40B4-BE49-F238E27FC236}">
                    <a16:creationId xmlns:a16="http://schemas.microsoft.com/office/drawing/2014/main" id="{BFE98803-843F-50CD-367D-0F56A038719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264059" y="1417755"/>
                <a:ext cx="2403032" cy="516816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9" name="Picture 10" descr="Image preview">
            <a:extLst>
              <a:ext uri="{FF2B5EF4-FFF2-40B4-BE49-F238E27FC236}">
                <a16:creationId xmlns:a16="http://schemas.microsoft.com/office/drawing/2014/main" id="{0E3C3A75-EDCC-F522-FA60-2DEA58692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3DD311-506D-F531-D804-9D36DF62B4C9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 Technologies - Confidential &amp; Proprietary - 2024</a:t>
            </a:r>
          </a:p>
        </p:txBody>
      </p:sp>
    </p:spTree>
    <p:extLst>
      <p:ext uri="{BB962C8B-B14F-4D97-AF65-F5344CB8AC3E}">
        <p14:creationId xmlns:p14="http://schemas.microsoft.com/office/powerpoint/2010/main" val="1094144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580">
        <p159:morph option="byChar"/>
      </p:transition>
    </mc:Choice>
    <mc:Fallback xmlns="">
      <p:transition spd="slow" advTm="2058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C94AA7-95A2-EB59-1CE6-3538AE54E6E1}"/>
              </a:ext>
            </a:extLst>
          </p:cNvPr>
          <p:cNvSpPr txBox="1"/>
          <p:nvPr/>
        </p:nvSpPr>
        <p:spPr>
          <a:xfrm>
            <a:off x="3048000" y="213633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Thank You </a:t>
            </a:r>
          </a:p>
        </p:txBody>
      </p:sp>
      <p:pic>
        <p:nvPicPr>
          <p:cNvPr id="2" name="Picture 10" descr="Image preview">
            <a:extLst>
              <a:ext uri="{FF2B5EF4-FFF2-40B4-BE49-F238E27FC236}">
                <a16:creationId xmlns:a16="http://schemas.microsoft.com/office/drawing/2014/main" id="{3762D7CD-A450-8F1A-6D43-C95D8CB3E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7" y="5945746"/>
            <a:ext cx="2764728" cy="7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63FE30-3C60-EEBE-BBCA-3B7FB1F213F3}"/>
              </a:ext>
            </a:extLst>
          </p:cNvPr>
          <p:cNvSpPr txBox="1"/>
          <p:nvPr/>
        </p:nvSpPr>
        <p:spPr>
          <a:xfrm>
            <a:off x="6666964" y="6417733"/>
            <a:ext cx="542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 Technologies - Confidential &amp; Proprietary - 2024</a:t>
            </a:r>
          </a:p>
        </p:txBody>
      </p:sp>
    </p:spTree>
    <p:extLst>
      <p:ext uri="{BB962C8B-B14F-4D97-AF65-F5344CB8AC3E}">
        <p14:creationId xmlns:p14="http://schemas.microsoft.com/office/powerpoint/2010/main" val="247601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4881">
        <p14:prism dir="u"/>
      </p:transition>
    </mc:Choice>
    <mc:Fallback xmlns="">
      <p:transition spd="slow" advTm="48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595</Words>
  <Application>Microsoft Office PowerPoint</Application>
  <PresentationFormat>Widescreen</PresentationFormat>
  <Paragraphs>108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Abadi MT Condensed Light</vt:lpstr>
      <vt:lpstr>Arial</vt:lpstr>
      <vt:lpstr>Calibri</vt:lpstr>
      <vt:lpstr>Calibri Light</vt:lpstr>
      <vt:lpstr>Helvetica Neue</vt:lpstr>
      <vt:lpstr>Helvetica Neue Light</vt:lpstr>
      <vt:lpstr>Myriad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Alice</dc:creator>
  <cp:lastModifiedBy>Charles Siemonsma</cp:lastModifiedBy>
  <cp:revision>5</cp:revision>
  <dcterms:created xsi:type="dcterms:W3CDTF">2022-10-19T20:45:04Z</dcterms:created>
  <dcterms:modified xsi:type="dcterms:W3CDTF">2024-10-17T02:48:02Z</dcterms:modified>
</cp:coreProperties>
</file>